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/>
          <a:lstStyle/>
          <a:p>
            <a:r>
              <a:rPr lang="en-SG" sz="1350" b="1">
                <a:solidFill>
                  <a:srgbClr val="111318"/>
                </a:solidFill>
              </a:rPr>
              <a:t>Class mix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Share</c:v>
          </c:tx>
          <c:spPr>
            <a:solidFill>
              <a:srgbClr val="0E7C7B"/>
            </a:solidFill>
          </c:spPr>
          <c:invertIfNegative val="1"/>
          <c:dLbls>
            <c:delete val="1"/>
          </c:dLbls>
          <c:cat>
            <c:strLit>
              <c:ptCount val="3"/>
              <c:pt idx="0">
                <c:v>Negative</c:v>
              </c:pt>
              <c:pt idx="1">
                <c:v>Positive</c:v>
              </c:pt>
              <c:pt idx="2">
                <c:v>Neutral</c:v>
              </c:pt>
            </c:strLit>
          </c:cat>
          <c:val>
            <c:numLit>
              <c:formatCode>General</c:formatCode>
              <c:ptCount val="3"/>
              <c:pt idx="0">
                <c:v>36.72</c:v>
              </c:pt>
              <c:pt idx="1">
                <c:v>33.380000000000003</c:v>
              </c:pt>
              <c:pt idx="2">
                <c:v>29.9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9F-48DC-A5CE-5766F43BEB6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D737A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majorGridlines>
          <c:spPr>
            <a:ln w="9525">
              <a:solidFill>
                <a:srgbClr val="E2DED6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1131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8F8F5"/>
        </a:solidFill>
      </c:spPr>
    </c:plotArea>
    <c:plotVisOnly val="1"/>
    <c:dispBlanksAs val="zero"/>
    <c:showDLblsOverMax val="1"/>
  </c:chart>
  <c:spPr>
    <a:solidFill>
      <a:srgbClr val="F8F8F5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/>
          <a:lstStyle/>
          <a:p>
            <a:r>
              <a:rPr lang="en-SG" sz="1350" b="1">
                <a:solidFill>
                  <a:srgbClr val="111318"/>
                </a:solidFill>
              </a:rPr>
              <a:t>Test F1 by class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F1</c:v>
          </c:tx>
          <c:spPr>
            <a:solidFill>
              <a:srgbClr val="0E7C7B"/>
            </a:solidFill>
          </c:spPr>
          <c:invertIfNegative val="1"/>
          <c:dLbls>
            <c:delete val="1"/>
          </c:dLbls>
          <c:cat>
            <c:strLit>
              <c:ptCount val="3"/>
              <c:pt idx="0">
                <c:v>Negative</c:v>
              </c:pt>
              <c:pt idx="1">
                <c:v>Neutral</c:v>
              </c:pt>
              <c:pt idx="2">
                <c:v>Positive</c:v>
              </c:pt>
            </c:strLit>
          </c:cat>
          <c:val>
            <c:numLit>
              <c:formatCode>0.00</c:formatCode>
              <c:ptCount val="3"/>
              <c:pt idx="0">
                <c:v>0.70120000000000005</c:v>
              </c:pt>
              <c:pt idx="1">
                <c:v>0.55030000000000001</c:v>
              </c:pt>
              <c:pt idx="2">
                <c:v>0.62709999999999999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F95-4167-A8D7-5C53BCC6C1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11131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8"/>
        </c:scaling>
        <c:delete val="0"/>
        <c:axPos val="l"/>
        <c:majorGridlines>
          <c:spPr>
            <a:ln w="9525">
              <a:solidFill>
                <a:srgbClr val="E2DED6"/>
              </a:solidFill>
              <a:prstDash val="solid"/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D737A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8F8F5"/>
        </a:solidFill>
      </c:spPr>
    </c:plotArea>
    <c:plotVisOnly val="1"/>
    <c:dispBlanksAs val="zero"/>
    <c:showDLblsOverMax val="1"/>
  </c:chart>
  <c:spPr>
    <a:solidFill>
      <a:srgbClr val="F8F8F5"/>
    </a:solidFill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/>
          <a:lstStyle/>
          <a:p>
            <a:r>
              <a:rPr lang="en-US" sz="1350" b="1">
                <a:solidFill>
                  <a:srgbClr val="111318"/>
                </a:solidFill>
              </a:rPr>
              <a:t>Validation macro F1 by candidate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Macro F1</c:v>
          </c:tx>
          <c:spPr>
            <a:solidFill>
              <a:srgbClr val="C9972D"/>
            </a:solidFill>
          </c:spPr>
          <c:invertIfNegative val="1"/>
          <c:dLbls>
            <c:delete val="1"/>
          </c:dLbls>
          <c:cat>
            <c:strLit>
              <c:ptCount val="4"/>
              <c:pt idx="0">
                <c:v>Baseline</c:v>
              </c:pt>
              <c:pt idx="1">
                <c:v>GRU-96 d0.20</c:v>
              </c:pt>
              <c:pt idx="2">
                <c:v>GRU neutral</c:v>
              </c:pt>
              <c:pt idx="3">
                <c:v>LSTM-64</c:v>
              </c:pt>
            </c:strLit>
          </c:cat>
          <c:val>
            <c:numLit>
              <c:formatCode>0.00</c:formatCode>
              <c:ptCount val="4"/>
              <c:pt idx="0">
                <c:v>0.61850000000000005</c:v>
              </c:pt>
              <c:pt idx="1">
                <c:v>0.68740000000000001</c:v>
              </c:pt>
              <c:pt idx="2">
                <c:v>0.66700000000000004</c:v>
              </c:pt>
              <c:pt idx="3">
                <c:v>0.65849999999999997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AC0-4D74-B372-0C65087D502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11131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72"/>
          <c:min val="0.55000000000000004"/>
        </c:scaling>
        <c:delete val="0"/>
        <c:axPos val="l"/>
        <c:majorGridlines>
          <c:spPr>
            <a:ln w="9525">
              <a:solidFill>
                <a:srgbClr val="E2DED6"/>
              </a:solidFill>
              <a:prstDash val="solid"/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D737A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8F8F5"/>
        </a:solidFill>
      </c:spPr>
    </c:plotArea>
    <c:plotVisOnly val="1"/>
    <c:dispBlanksAs val="zero"/>
    <c:showDLblsOverMax val="1"/>
  </c:chart>
  <c:spPr>
    <a:solidFill>
      <a:srgbClr val="F8F8F5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1C8BFFA-5B76-419D-8330-ED00140A67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318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A555CC-5A35-435D-8F91-A54429E1A1D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66675" cy="485775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6C62E4-F399-443C-BC8F-2F0FEAC53324}"/>
              </a:ext>
            </a:extLst>
          </p:cNvPr>
          <p:cNvSpPr>
            <a:spLocks noGrp="1"/>
          </p:cNvSpPr>
          <p:nvPr/>
        </p:nvSpPr>
        <p:spPr>
          <a:xfrm>
            <a:off x="895350" y="685800"/>
            <a:ext cx="2724150" cy="66675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4DABE6-EBF7-407E-8318-DC0285ED7B15}"/>
              </a:ext>
            </a:extLst>
          </p:cNvPr>
          <p:cNvSpPr>
            <a:spLocks noGrp="1"/>
          </p:cNvSpPr>
          <p:nvPr/>
        </p:nvSpPr>
        <p:spPr>
          <a:xfrm>
            <a:off x="1066800" y="885825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125" b="1">
                <a:solidFill>
                  <a:srgbClr val="6BB6A8"/>
                </a:solidFill>
              </a:defRPr>
            </a:pPr>
            <a:r>
              <a:rPr sz="1125" b="1">
                <a:solidFill>
                  <a:srgbClr val="6BB6A8"/>
                </a:solidFill>
              </a:rPr>
              <a:t>EXECUTIVE READOUT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6057F-341F-4FB4-91FC-8C87D6AB112A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66675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Twitter Sentiment</a:t>
            </a:r>
          </a:p>
          <a:p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Classifier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1D083-A65B-4AA4-B2F3-CA30BF9345B0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695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0">
                <a:solidFill>
                  <a:srgbClr val="D9DDD8"/>
                </a:solidFill>
              </a:defRPr>
            </a:pPr>
            <a:r>
              <a:rPr sz="1800" b="0">
                <a:solidFill>
                  <a:srgbClr val="D9DDD8"/>
                </a:solidFill>
              </a:rPr>
              <a:t>Submission-ready RNN baseline with a validation-selected improvement candidate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1D54D7-5147-4179-A148-3191C98C0E92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2381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84A00E-C605-41B3-82F5-16A4F92832ED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57150" cy="10668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1E7FBB-BB5A-4F78-B9AF-6C3F17A85CD7}"/>
              </a:ext>
            </a:extLst>
          </p:cNvPr>
          <p:cNvSpPr>
            <a:spLocks noGrp="1"/>
          </p:cNvSpPr>
          <p:nvPr/>
        </p:nvSpPr>
        <p:spPr>
          <a:xfrm>
            <a:off x="1333500" y="489585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0.6262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A43CE2-8936-4CD8-9E58-9FF606339578}"/>
              </a:ext>
            </a:extLst>
          </p:cNvPr>
          <p:cNvSpPr>
            <a:spLocks noGrp="1"/>
          </p:cNvSpPr>
          <p:nvPr/>
        </p:nvSpPr>
        <p:spPr>
          <a:xfrm>
            <a:off x="1333500" y="53340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held-out test macro F1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DC9EC0-15B0-4AAC-B8EB-D7B477D4A0F0}"/>
              </a:ext>
            </a:extLst>
          </p:cNvPr>
          <p:cNvSpPr>
            <a:spLocks noGrp="1"/>
          </p:cNvSpPr>
          <p:nvPr/>
        </p:nvSpPr>
        <p:spPr>
          <a:xfrm>
            <a:off x="3848100" y="4686300"/>
            <a:ext cx="2381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9F1E85-1DF4-43FA-A197-41380E69840E}"/>
              </a:ext>
            </a:extLst>
          </p:cNvPr>
          <p:cNvSpPr>
            <a:spLocks noGrp="1"/>
          </p:cNvSpPr>
          <p:nvPr/>
        </p:nvSpPr>
        <p:spPr>
          <a:xfrm>
            <a:off x="3848100" y="4686300"/>
            <a:ext cx="57150" cy="1066800"/>
          </a:xfrm>
          <a:prstGeom prst="rect">
            <a:avLst/>
          </a:prstGeom>
          <a:solidFill>
            <a:srgbClr val="6BB6A8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10FDDE-FE28-4971-89B7-DF9DFB5ABF01}"/>
              </a:ext>
            </a:extLst>
          </p:cNvPr>
          <p:cNvSpPr>
            <a:spLocks noGrp="1"/>
          </p:cNvSpPr>
          <p:nvPr/>
        </p:nvSpPr>
        <p:spPr>
          <a:xfrm>
            <a:off x="4076700" y="489585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0.6874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15B9A8-B876-4048-98DC-1F6955912C30}"/>
              </a:ext>
            </a:extLst>
          </p:cNvPr>
          <p:cNvSpPr>
            <a:spLocks noGrp="1"/>
          </p:cNvSpPr>
          <p:nvPr/>
        </p:nvSpPr>
        <p:spPr>
          <a:xfrm>
            <a:off x="4076700" y="53340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best validation macro F1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490C71-9991-4229-8600-D5C543398633}"/>
              </a:ext>
            </a:extLst>
          </p:cNvPr>
          <p:cNvSpPr>
            <a:spLocks noGrp="1"/>
          </p:cNvSpPr>
          <p:nvPr/>
        </p:nvSpPr>
        <p:spPr>
          <a:xfrm>
            <a:off x="6591300" y="4686300"/>
            <a:ext cx="2381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E19EE6-71A8-42D8-AE9B-346665A03810}"/>
              </a:ext>
            </a:extLst>
          </p:cNvPr>
          <p:cNvSpPr>
            <a:spLocks noGrp="1"/>
          </p:cNvSpPr>
          <p:nvPr/>
        </p:nvSpPr>
        <p:spPr>
          <a:xfrm>
            <a:off x="6591300" y="4686300"/>
            <a:ext cx="57150" cy="1066800"/>
          </a:xfrm>
          <a:prstGeom prst="rect">
            <a:avLst/>
          </a:prstGeom>
          <a:solidFill>
            <a:srgbClr val="D65A4A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7A3D28-2CBE-42C1-8039-883CF64C9F49}"/>
              </a:ext>
            </a:extLst>
          </p:cNvPr>
          <p:cNvSpPr>
            <a:spLocks noGrp="1"/>
          </p:cNvSpPr>
          <p:nvPr/>
        </p:nvSpPr>
        <p:spPr>
          <a:xfrm>
            <a:off x="6819900" y="489585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+0.0689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EDA68C-4B62-4712-8451-6DF173FF19D8}"/>
              </a:ext>
            </a:extLst>
          </p:cNvPr>
          <p:cNvSpPr>
            <a:spLocks noGrp="1"/>
          </p:cNvSpPr>
          <p:nvPr/>
        </p:nvSpPr>
        <p:spPr>
          <a:xfrm>
            <a:off x="6819900" y="53340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validation macro F1 lift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E0B9A3-4232-4B04-932C-C958476C84C2}"/>
              </a:ext>
            </a:extLst>
          </p:cNvPr>
          <p:cNvSpPr>
            <a:spLocks noGrp="1"/>
          </p:cNvSpPr>
          <p:nvPr/>
        </p:nvSpPr>
        <p:spPr>
          <a:xfrm>
            <a:off x="9144000" y="59626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1050" b="0">
                <a:solidFill>
                  <a:srgbClr val="AEB5AE"/>
                </a:solidFill>
              </a:defRPr>
            </a:pPr>
            <a:r>
              <a:rPr sz="1050" b="0">
                <a:solidFill>
                  <a:srgbClr val="AEB5AE"/>
                </a:solidFill>
              </a:rPr>
              <a:t>Phase 10 | June 2026</a:t>
            </a:r>
          </a:p>
        </p:txBody>
      </p:sp>
    </p:spTree>
    <p:extLst>
      <p:ext uri="{BB962C8B-B14F-4D97-AF65-F5344CB8AC3E}">
        <p14:creationId xmlns:p14="http://schemas.microsoft.com/office/powerpoint/2010/main" val="796855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C41E87D-8035-48D4-9D88-CA41DD46066B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DECISION FIRST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E77C19-3C7C-411B-8419-0FDD0ECBD7B4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Executive Thesis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9E89BC-FD10-40C7-B326-82F12B37D85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844A2F-DCA4-4878-BB69-2793C36C3ABA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100" b="1">
                <a:solidFill>
                  <a:srgbClr val="111318"/>
                </a:solidFill>
              </a:defRPr>
            </a:pPr>
            <a:r>
              <a:rPr sz="2100" b="1">
                <a:solidFill>
                  <a:srgbClr val="111318"/>
                </a:solidFill>
              </a:rPr>
              <a:t>The project is ready to submit as a clean baseline story. The larger GRU is the strongest validation candidate, but should only be tested once if the rubric requires a final improved-model test result.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A8D915-25F9-4D2F-AFAD-64EDFF8A6C96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32385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DC80F-9E26-4E60-B76D-BB87D3F811D6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3238500" cy="47625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0BFF65-26A8-4001-8569-99F0E457B63F}"/>
              </a:ext>
            </a:extLst>
          </p:cNvPr>
          <p:cNvSpPr>
            <a:spLocks noGrp="1"/>
          </p:cNvSpPr>
          <p:nvPr/>
        </p:nvSpPr>
        <p:spPr>
          <a:xfrm>
            <a:off x="914400" y="342900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C9972D"/>
                </a:solidFill>
              </a:defRPr>
            </a:pPr>
            <a:r>
              <a:rPr sz="975" b="1">
                <a:solidFill>
                  <a:srgbClr val="C9972D"/>
                </a:solidFill>
              </a:rPr>
              <a:t>SUBMIT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5BDC61-FFB1-40D1-A969-D45C4FBA038E}"/>
              </a:ext>
            </a:extLst>
          </p:cNvPr>
          <p:cNvSpPr>
            <a:spLocks noGrp="1"/>
          </p:cNvSpPr>
          <p:nvPr/>
        </p:nvSpPr>
        <p:spPr>
          <a:xfrm>
            <a:off x="914400" y="37147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Official baseline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6E5060-230D-4973-82EC-BACE1C90FF8E}"/>
              </a:ext>
            </a:extLst>
          </p:cNvPr>
          <p:cNvSpPr>
            <a:spLocks noGrp="1"/>
          </p:cNvSpPr>
          <p:nvPr/>
        </p:nvSpPr>
        <p:spPr>
          <a:xfrm>
            <a:off x="914400" y="42481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Use Phase 8 held-out test metrics as the audited baseline result.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712752-124E-4F02-B9B2-554C2FD65831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32385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9CBC5-AD92-42FA-9A59-09EF7DA2C55E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3238500" cy="47625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15A9BF-3FC3-46AF-B1F7-7D7FECA6A925}"/>
              </a:ext>
            </a:extLst>
          </p:cNvPr>
          <p:cNvSpPr>
            <a:spLocks noGrp="1"/>
          </p:cNvSpPr>
          <p:nvPr/>
        </p:nvSpPr>
        <p:spPr>
          <a:xfrm>
            <a:off x="4705350" y="342900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0E7C7B"/>
                </a:solidFill>
              </a:defRPr>
            </a:pPr>
            <a:r>
              <a:rPr sz="975" b="1">
                <a:solidFill>
                  <a:srgbClr val="0E7C7B"/>
                </a:solidFill>
              </a:rPr>
              <a:t>SELECT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AC061F-774F-42BE-A388-8D7E5473DB04}"/>
              </a:ext>
            </a:extLst>
          </p:cNvPr>
          <p:cNvSpPr>
            <a:spLocks noGrp="1"/>
          </p:cNvSpPr>
          <p:nvPr/>
        </p:nvSpPr>
        <p:spPr>
          <a:xfrm>
            <a:off x="4705350" y="37147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GRU-96 candidate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8318A0-CAE1-4ABC-A2D8-3CEE0094E6B5}"/>
              </a:ext>
            </a:extLst>
          </p:cNvPr>
          <p:cNvSpPr>
            <a:spLocks noGrp="1"/>
          </p:cNvSpPr>
          <p:nvPr/>
        </p:nvSpPr>
        <p:spPr>
          <a:xfrm>
            <a:off x="4705350" y="42481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Treat the Phase 9 larger GRU as the selected validation model.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BBC8F1-98BB-4C26-8122-3F30D5460F97}"/>
              </a:ext>
            </a:extLst>
          </p:cNvPr>
          <p:cNvSpPr>
            <a:spLocks noGrp="1"/>
          </p:cNvSpPr>
          <p:nvPr/>
        </p:nvSpPr>
        <p:spPr>
          <a:xfrm>
            <a:off x="8267700" y="3219450"/>
            <a:ext cx="32385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1A4233-86B4-416F-8A5A-537C6E5FFCA8}"/>
              </a:ext>
            </a:extLst>
          </p:cNvPr>
          <p:cNvSpPr>
            <a:spLocks noGrp="1"/>
          </p:cNvSpPr>
          <p:nvPr/>
        </p:nvSpPr>
        <p:spPr>
          <a:xfrm>
            <a:off x="8267700" y="3219450"/>
            <a:ext cx="3238500" cy="47625"/>
          </a:xfrm>
          <a:prstGeom prst="rect">
            <a:avLst/>
          </a:prstGeom>
          <a:solidFill>
            <a:srgbClr val="D65A4A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0FD02A-9E7C-4CA5-A49F-DBC74524E5DA}"/>
              </a:ext>
            </a:extLst>
          </p:cNvPr>
          <p:cNvSpPr>
            <a:spLocks noGrp="1"/>
          </p:cNvSpPr>
          <p:nvPr/>
        </p:nvSpPr>
        <p:spPr>
          <a:xfrm>
            <a:off x="8496300" y="342900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D65A4A"/>
                </a:solidFill>
              </a:defRPr>
            </a:pPr>
            <a:r>
              <a:rPr sz="975" b="1">
                <a:solidFill>
                  <a:srgbClr val="D65A4A"/>
                </a:solidFill>
              </a:rPr>
              <a:t>GOVERN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DB658F4-02CC-444B-8EBF-C5B5D21A79E0}"/>
              </a:ext>
            </a:extLst>
          </p:cNvPr>
          <p:cNvSpPr>
            <a:spLocks noGrp="1"/>
          </p:cNvSpPr>
          <p:nvPr/>
        </p:nvSpPr>
        <p:spPr>
          <a:xfrm>
            <a:off x="8496300" y="37147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Preserve test integrity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DE8708-1DE0-4FAA-8A9A-D6190F6728A1}"/>
              </a:ext>
            </a:extLst>
          </p:cNvPr>
          <p:cNvSpPr>
            <a:spLocks noGrp="1"/>
          </p:cNvSpPr>
          <p:nvPr/>
        </p:nvSpPr>
        <p:spPr>
          <a:xfrm>
            <a:off x="8496300" y="42481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Run one final test only if required; avoid iterative test-set tuning.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474FA2-6DD4-4FC3-A464-F36284D0B1D3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5AF9E2-B34E-47EE-A3E2-47E3EBEC826E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27FCDA-9EBC-43DE-A5FA-04A2DF7FF02B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6533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0F2B55D-11D3-4499-94E0-3517176E0BD0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EVIDENCE BASE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CAF3E3-4A21-4C0F-80D9-514C143DDD9E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Data Foundation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90103E-4C79-452C-9988-967A75208C4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E14CCE-0F62-4907-BC0D-7DEEBB8DF892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704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The cleaned corpus is large, class balance is workable, and split governance is explicit.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E8B3BF-7C91-48DB-815E-5FB86B97228D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2286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D9F2C7-0A0A-4B03-8ABF-3AFC5C045558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57150" cy="10668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241275-F8AC-4EFA-BCED-0401F03C6EA6}"/>
              </a:ext>
            </a:extLst>
          </p:cNvPr>
          <p:cNvSpPr>
            <a:spLocks noGrp="1"/>
          </p:cNvSpPr>
          <p:nvPr/>
        </p:nvSpPr>
        <p:spPr>
          <a:xfrm>
            <a:off x="914400" y="28384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58,841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5C14A6-19F2-4044-B405-1DE8AF4080CC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clean rows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F609AE-B18D-4133-AC36-91599F630B84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2286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1CFEE-27C8-4351-B867-3BBCE14614E2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57150" cy="10668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54629B-1CEF-4DD7-BEF7-6BE33CE8E17F}"/>
              </a:ext>
            </a:extLst>
          </p:cNvPr>
          <p:cNvSpPr>
            <a:spLocks noGrp="1"/>
          </p:cNvSpPr>
          <p:nvPr/>
        </p:nvSpPr>
        <p:spPr>
          <a:xfrm>
            <a:off x="3467100" y="28384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17,924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D42B6A-8E74-41E6-9C92-048CF1C387E4}"/>
              </a:ext>
            </a:extLst>
          </p:cNvPr>
          <p:cNvSpPr>
            <a:spLocks noGrp="1"/>
          </p:cNvSpPr>
          <p:nvPr/>
        </p:nvSpPr>
        <p:spPr>
          <a:xfrm>
            <a:off x="3467100" y="327660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final vocabulary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80C6A-73D5-4561-B649-B470EF0060C9}"/>
              </a:ext>
            </a:extLst>
          </p:cNvPr>
          <p:cNvSpPr>
            <a:spLocks noGrp="1"/>
          </p:cNvSpPr>
          <p:nvPr/>
        </p:nvSpPr>
        <p:spPr>
          <a:xfrm>
            <a:off x="5791200" y="2628900"/>
            <a:ext cx="2286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50D913-576B-45F9-84A8-300096BA78B5}"/>
              </a:ext>
            </a:extLst>
          </p:cNvPr>
          <p:cNvSpPr>
            <a:spLocks noGrp="1"/>
          </p:cNvSpPr>
          <p:nvPr/>
        </p:nvSpPr>
        <p:spPr>
          <a:xfrm>
            <a:off x="5791200" y="2628900"/>
            <a:ext cx="57150" cy="1066800"/>
          </a:xfrm>
          <a:prstGeom prst="rect">
            <a:avLst/>
          </a:prstGeom>
          <a:solidFill>
            <a:srgbClr val="D65A4A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848EB0-CC39-48E1-8470-E4B5D27B0AE9}"/>
              </a:ext>
            </a:extLst>
          </p:cNvPr>
          <p:cNvSpPr>
            <a:spLocks noGrp="1"/>
          </p:cNvSpPr>
          <p:nvPr/>
        </p:nvSpPr>
        <p:spPr>
          <a:xfrm>
            <a:off x="6019800" y="28384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DADCD-123B-46A6-A6DD-08CD9A9ADEE6}"/>
              </a:ext>
            </a:extLst>
          </p:cNvPr>
          <p:cNvSpPr>
            <a:spLocks noGrp="1"/>
          </p:cNvSpPr>
          <p:nvPr/>
        </p:nvSpPr>
        <p:spPr>
          <a:xfrm>
            <a:off x="6019800" y="327660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sentiment classes</a:t>
            </a:r>
          </a:p>
        </p:txBody>
      </p:sp>
      <p:graphicFrame>
        <p:nvGraphicFramePr>
          <p:cNvPr id="43" name="Chart"/>
          <p:cNvGraphicFramePr/>
          <p:nvPr/>
        </p:nvGraphicFramePr>
        <p:xfrm>
          <a:off x="8572500" y="1866900"/>
          <a:ext cx="2857500" cy="2933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0D0073B0-0A1F-4A64-BBC8-CDE98A6C1A54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7391400" cy="9525"/>
          </a:xfrm>
          <a:prstGeom prst="rect">
            <a:avLst/>
          </a:prstGeom>
          <a:solidFill>
            <a:srgbClr val="D3CEC4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C92F6A-EC9A-49A6-B5D6-786DE585842E}"/>
              </a:ext>
            </a:extLst>
          </p:cNvPr>
          <p:cNvSpPr>
            <a:spLocks noGrp="1"/>
          </p:cNvSpPr>
          <p:nvPr/>
        </p:nvSpPr>
        <p:spPr>
          <a:xfrm>
            <a:off x="685800" y="46291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Split design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D5BA6B-FB03-4E01-8557-4BA0E7EAD8C4}"/>
              </a:ext>
            </a:extLst>
          </p:cNvPr>
          <p:cNvSpPr>
            <a:spLocks noGrp="1"/>
          </p:cNvSpPr>
          <p:nvPr/>
        </p:nvSpPr>
        <p:spPr>
          <a:xfrm>
            <a:off x="2781300" y="46291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0E7C7B"/>
                </a:solidFill>
              </a:defRPr>
            </a:pPr>
            <a:r>
              <a:rPr sz="1650" b="1">
                <a:solidFill>
                  <a:srgbClr val="0E7C7B"/>
                </a:solidFill>
              </a:rPr>
              <a:t>41,189 train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D49474-2E7F-48D7-B6FF-A36012556473}"/>
              </a:ext>
            </a:extLst>
          </p:cNvPr>
          <p:cNvSpPr>
            <a:spLocks noGrp="1"/>
          </p:cNvSpPr>
          <p:nvPr/>
        </p:nvSpPr>
        <p:spPr>
          <a:xfrm>
            <a:off x="4857750" y="462915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C9972D"/>
                </a:solidFill>
              </a:defRPr>
            </a:pPr>
            <a:r>
              <a:rPr sz="1650" b="1">
                <a:solidFill>
                  <a:srgbClr val="C9972D"/>
                </a:solidFill>
              </a:rPr>
              <a:t>8,826 validation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04A1D8-1C0C-4D28-86D8-6181C91C70B8}"/>
              </a:ext>
            </a:extLst>
          </p:cNvPr>
          <p:cNvSpPr>
            <a:spLocks noGrp="1"/>
          </p:cNvSpPr>
          <p:nvPr/>
        </p:nvSpPr>
        <p:spPr>
          <a:xfrm>
            <a:off x="7143750" y="46291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D65A4A"/>
                </a:solidFill>
              </a:defRPr>
            </a:pPr>
            <a:r>
              <a:rPr sz="1650" b="1">
                <a:solidFill>
                  <a:srgbClr val="D65A4A"/>
                </a:solidFill>
              </a:rPr>
              <a:t>8,826 test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EC221D-9F19-40BF-9683-026B7352C88E}"/>
              </a:ext>
            </a:extLst>
          </p:cNvPr>
          <p:cNvSpPr>
            <a:spLocks noGrp="1"/>
          </p:cNvSpPr>
          <p:nvPr/>
        </p:nvSpPr>
        <p:spPr>
          <a:xfrm>
            <a:off x="2781300" y="5105400"/>
            <a:ext cx="6134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75" b="0">
                <a:solidFill>
                  <a:srgbClr val="252A31"/>
                </a:solidFill>
              </a:defRPr>
            </a:pPr>
            <a:r>
              <a:rPr sz="1275" b="0">
                <a:solidFill>
                  <a:srgbClr val="252A31"/>
                </a:solidFill>
              </a:rPr>
              <a:t>Group-aware train/validation/test partitions prevent accidental leakage and keep the held-out split reserved for final evidence.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C4E01F-39C7-47E9-98C5-B568468DB1F3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5E1256-CDCA-4CA0-B833-FC9138DED091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82C5B18-90D2-43EF-82E0-19FD12771841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1978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99505D0-B32D-4367-A98C-5F28A9B71E42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METHOD DISCIPLINE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54C6C2-C86B-4DB3-B535-07F1157D2135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Controls Built Into The Workflow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86C5CD-D264-445B-BBF6-8C1C6D4D7DDB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A4EC23-5001-449D-8DF5-6732CE401AE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The implementation is defensible because every phase leaves an artifact trail, and model selection is isolated from held-out test evidence.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E4EE01-6C82-497E-8F57-CAF667098032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22669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979645-08BD-4524-8B90-9EC162205D3F}"/>
              </a:ext>
            </a:extLst>
          </p:cNvPr>
          <p:cNvSpPr>
            <a:spLocks noGrp="1"/>
          </p:cNvSpPr>
          <p:nvPr/>
        </p:nvSpPr>
        <p:spPr>
          <a:xfrm>
            <a:off x="895350" y="320040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C9972D"/>
                </a:solidFill>
              </a:defRPr>
            </a:pPr>
            <a:r>
              <a:rPr sz="1800" b="1">
                <a:solidFill>
                  <a:srgbClr val="C9972D"/>
                </a:solidFill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74A79C-78DD-449B-A57F-84C605D52696}"/>
              </a:ext>
            </a:extLst>
          </p:cNvPr>
          <p:cNvSpPr>
            <a:spLocks noGrp="1"/>
          </p:cNvSpPr>
          <p:nvPr/>
        </p:nvSpPr>
        <p:spPr>
          <a:xfrm>
            <a:off x="895350" y="3657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950" b="1">
                <a:solidFill>
                  <a:srgbClr val="111318"/>
                </a:solidFill>
              </a:defRPr>
            </a:pPr>
            <a:r>
              <a:rPr sz="1950" b="1">
                <a:solidFill>
                  <a:srgbClr val="111318"/>
                </a:solidFill>
              </a:rPr>
              <a:t>Clean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B1D37-A1C7-40B4-9228-D8A843857EE7}"/>
              </a:ext>
            </a:extLst>
          </p:cNvPr>
          <p:cNvSpPr>
            <a:spLocks noGrp="1"/>
          </p:cNvSpPr>
          <p:nvPr/>
        </p:nvSpPr>
        <p:spPr>
          <a:xfrm>
            <a:off x="895350" y="4114800"/>
            <a:ext cx="1809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Remove unusable text; preserve audits for missing, duplicate, and conflicting rows.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09E7B8-0302-4BA3-B6C8-AF6389DC9633}"/>
              </a:ext>
            </a:extLst>
          </p:cNvPr>
          <p:cNvSpPr>
            <a:spLocks noGrp="1"/>
          </p:cNvSpPr>
          <p:nvPr/>
        </p:nvSpPr>
        <p:spPr>
          <a:xfrm>
            <a:off x="3048000" y="3943350"/>
            <a:ext cx="381000" cy="28575"/>
          </a:xfrm>
          <a:prstGeom prst="rect">
            <a:avLst/>
          </a:prstGeom>
          <a:solidFill>
            <a:srgbClr val="D3CEC4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D6B193-C9D2-4BC7-96EF-51A5DF493646}"/>
              </a:ext>
            </a:extLst>
          </p:cNvPr>
          <p:cNvSpPr>
            <a:spLocks noGrp="1"/>
          </p:cNvSpPr>
          <p:nvPr/>
        </p:nvSpPr>
        <p:spPr>
          <a:xfrm>
            <a:off x="3429000" y="2990850"/>
            <a:ext cx="22669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FDD1F2-76D2-428C-B6E2-0116A9824409}"/>
              </a:ext>
            </a:extLst>
          </p:cNvPr>
          <p:cNvSpPr>
            <a:spLocks noGrp="1"/>
          </p:cNvSpPr>
          <p:nvPr/>
        </p:nvSpPr>
        <p:spPr>
          <a:xfrm>
            <a:off x="3638550" y="320040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7A1EE3-4004-4D7F-8E41-9B6359BA68D2}"/>
              </a:ext>
            </a:extLst>
          </p:cNvPr>
          <p:cNvSpPr>
            <a:spLocks noGrp="1"/>
          </p:cNvSpPr>
          <p:nvPr/>
        </p:nvSpPr>
        <p:spPr>
          <a:xfrm>
            <a:off x="3638550" y="3657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950" b="1">
                <a:solidFill>
                  <a:srgbClr val="111318"/>
                </a:solidFill>
              </a:defRPr>
            </a:pPr>
            <a:r>
              <a:rPr sz="1950" b="1">
                <a:solidFill>
                  <a:srgbClr val="111318"/>
                </a:solidFill>
              </a:rPr>
              <a:t>Encode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99AE5E-9FF0-4068-813A-1F515E0451CA}"/>
              </a:ext>
            </a:extLst>
          </p:cNvPr>
          <p:cNvSpPr>
            <a:spLocks noGrp="1"/>
          </p:cNvSpPr>
          <p:nvPr/>
        </p:nvSpPr>
        <p:spPr>
          <a:xfrm>
            <a:off x="3638550" y="4114800"/>
            <a:ext cx="1809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Tokenize model text, cap sequence length, and save vocabulary/config artifacts.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F7A021-A3D1-48EF-B089-643FD959836A}"/>
              </a:ext>
            </a:extLst>
          </p:cNvPr>
          <p:cNvSpPr>
            <a:spLocks noGrp="1"/>
          </p:cNvSpPr>
          <p:nvPr/>
        </p:nvSpPr>
        <p:spPr>
          <a:xfrm>
            <a:off x="5791200" y="3943350"/>
            <a:ext cx="381000" cy="28575"/>
          </a:xfrm>
          <a:prstGeom prst="rect">
            <a:avLst/>
          </a:prstGeom>
          <a:solidFill>
            <a:srgbClr val="D3CEC4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934AD6-E2F9-4990-A9FD-B7BCE7645387}"/>
              </a:ext>
            </a:extLst>
          </p:cNvPr>
          <p:cNvSpPr>
            <a:spLocks noGrp="1"/>
          </p:cNvSpPr>
          <p:nvPr/>
        </p:nvSpPr>
        <p:spPr>
          <a:xfrm>
            <a:off x="6172200" y="2990850"/>
            <a:ext cx="22669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E9E640-C98F-4E98-9023-E560E0F4BEBF}"/>
              </a:ext>
            </a:extLst>
          </p:cNvPr>
          <p:cNvSpPr>
            <a:spLocks noGrp="1"/>
          </p:cNvSpPr>
          <p:nvPr/>
        </p:nvSpPr>
        <p:spPr>
          <a:xfrm>
            <a:off x="6381750" y="320040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6D8B4E"/>
                </a:solidFill>
              </a:defRPr>
            </a:pPr>
            <a:r>
              <a:rPr sz="1800" b="1">
                <a:solidFill>
                  <a:srgbClr val="6D8B4E"/>
                </a:solidFill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E9ACCB-7C7C-4777-A5BC-D9B30158A648}"/>
              </a:ext>
            </a:extLst>
          </p:cNvPr>
          <p:cNvSpPr>
            <a:spLocks noGrp="1"/>
          </p:cNvSpPr>
          <p:nvPr/>
        </p:nvSpPr>
        <p:spPr>
          <a:xfrm>
            <a:off x="6381750" y="3657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950" b="1">
                <a:solidFill>
                  <a:srgbClr val="111318"/>
                </a:solidFill>
              </a:defRPr>
            </a:pPr>
            <a:r>
              <a:rPr sz="1950" b="1">
                <a:solidFill>
                  <a:srgbClr val="111318"/>
                </a:solidFill>
              </a:rPr>
              <a:t>Validate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675502-543D-444B-9395-03590658E4A3}"/>
              </a:ext>
            </a:extLst>
          </p:cNvPr>
          <p:cNvSpPr>
            <a:spLocks noGrp="1"/>
          </p:cNvSpPr>
          <p:nvPr/>
        </p:nvSpPr>
        <p:spPr>
          <a:xfrm>
            <a:off x="6381750" y="4114800"/>
            <a:ext cx="1809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Select checkpoints on validation macro F1 with class-weighted loss.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26B12D4-3EA3-46D0-AB4A-716D37AE7DB0}"/>
              </a:ext>
            </a:extLst>
          </p:cNvPr>
          <p:cNvSpPr>
            <a:spLocks noGrp="1"/>
          </p:cNvSpPr>
          <p:nvPr/>
        </p:nvSpPr>
        <p:spPr>
          <a:xfrm>
            <a:off x="8534400" y="3943350"/>
            <a:ext cx="381000" cy="28575"/>
          </a:xfrm>
          <a:prstGeom prst="rect">
            <a:avLst/>
          </a:prstGeom>
          <a:solidFill>
            <a:srgbClr val="D3CEC4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47C24B-5E2A-4DB2-AD51-0C7F67AF3759}"/>
              </a:ext>
            </a:extLst>
          </p:cNvPr>
          <p:cNvSpPr>
            <a:spLocks noGrp="1"/>
          </p:cNvSpPr>
          <p:nvPr/>
        </p:nvSpPr>
        <p:spPr>
          <a:xfrm>
            <a:off x="8915400" y="2990850"/>
            <a:ext cx="22669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8BB798-9838-4AA4-B2AF-141547C9069B}"/>
              </a:ext>
            </a:extLst>
          </p:cNvPr>
          <p:cNvSpPr>
            <a:spLocks noGrp="1"/>
          </p:cNvSpPr>
          <p:nvPr/>
        </p:nvSpPr>
        <p:spPr>
          <a:xfrm>
            <a:off x="9124950" y="320040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D65A4A"/>
                </a:solidFill>
              </a:defRPr>
            </a:pPr>
            <a:r>
              <a:rPr sz="1800" b="1">
                <a:solidFill>
                  <a:srgbClr val="D65A4A"/>
                </a:solidFill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030F7-8E9F-403C-9731-A7E619F4B173}"/>
              </a:ext>
            </a:extLst>
          </p:cNvPr>
          <p:cNvSpPr>
            <a:spLocks noGrp="1"/>
          </p:cNvSpPr>
          <p:nvPr/>
        </p:nvSpPr>
        <p:spPr>
          <a:xfrm>
            <a:off x="9124950" y="3657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950" b="1">
                <a:solidFill>
                  <a:srgbClr val="111318"/>
                </a:solidFill>
              </a:defRPr>
            </a:pPr>
            <a:r>
              <a:rPr sz="1950" b="1">
                <a:solidFill>
                  <a:srgbClr val="111318"/>
                </a:solidFill>
              </a:rPr>
              <a:t>Test once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5F6F4-74F4-4711-8F1C-C7A9E257DF06}"/>
              </a:ext>
            </a:extLst>
          </p:cNvPr>
          <p:cNvSpPr>
            <a:spLocks noGrp="1"/>
          </p:cNvSpPr>
          <p:nvPr/>
        </p:nvSpPr>
        <p:spPr>
          <a:xfrm>
            <a:off x="9124950" y="4114800"/>
            <a:ext cx="1809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Report the saved baseline checkpoint on the held-out split without retuning.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0D8C8A-3B34-4582-A96D-5EAEC4C62D5F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BA1505-856F-4369-BE20-4CB238ECC5C9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64E22-D8A6-44A2-8B0C-ACD38D9D210A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19272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E559739-90C3-4EB2-A69F-D50FB01463F0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HELD-OUT TEST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00D65C-F03D-46A6-AFCA-BC8D7058F6C1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Baseline Performance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A1BBAE-2D15-48A2-8B05-870AEF5DA84C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669536-9E8C-4466-B022-A9E0589EBB68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28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The Phase 7 GRU baseline is credible overall, but Neutral remains the limiting class.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762000" y="2609850"/>
          <a:ext cx="619125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462220E-A22E-483E-827F-166AAC421F46}"/>
              </a:ext>
            </a:extLst>
          </p:cNvPr>
          <p:cNvSpPr>
            <a:spLocks noGrp="1"/>
          </p:cNvSpPr>
          <p:nvPr/>
        </p:nvSpPr>
        <p:spPr>
          <a:xfrm>
            <a:off x="7524750" y="2895600"/>
            <a:ext cx="2476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867C51-3EC1-4F64-8AAD-4312285D3642}"/>
              </a:ext>
            </a:extLst>
          </p:cNvPr>
          <p:cNvSpPr>
            <a:spLocks noGrp="1"/>
          </p:cNvSpPr>
          <p:nvPr/>
        </p:nvSpPr>
        <p:spPr>
          <a:xfrm>
            <a:off x="7524750" y="2895600"/>
            <a:ext cx="57150" cy="10668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8FEB50-7A35-4F84-98C2-68063734C549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0.6387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E4D179-A2F2-423F-9E47-F3DECE3602A4}"/>
              </a:ext>
            </a:extLst>
          </p:cNvPr>
          <p:cNvSpPr>
            <a:spLocks noGrp="1"/>
          </p:cNvSpPr>
          <p:nvPr/>
        </p:nvSpPr>
        <p:spPr>
          <a:xfrm>
            <a:off x="7753350" y="35433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test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85DAAD-BF0D-4FB5-81E8-BD47156CCB45}"/>
              </a:ext>
            </a:extLst>
          </p:cNvPr>
          <p:cNvSpPr>
            <a:spLocks noGrp="1"/>
          </p:cNvSpPr>
          <p:nvPr/>
        </p:nvSpPr>
        <p:spPr>
          <a:xfrm>
            <a:off x="7524750" y="4229100"/>
            <a:ext cx="2476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5E23EF-149F-4B67-A970-10210956F0D8}"/>
              </a:ext>
            </a:extLst>
          </p:cNvPr>
          <p:cNvSpPr>
            <a:spLocks noGrp="1"/>
          </p:cNvSpPr>
          <p:nvPr/>
        </p:nvSpPr>
        <p:spPr>
          <a:xfrm>
            <a:off x="7524750" y="4229100"/>
            <a:ext cx="57150" cy="1066800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A0594D-541F-42C1-8E19-EE2BD833A73C}"/>
              </a:ext>
            </a:extLst>
          </p:cNvPr>
          <p:cNvSpPr>
            <a:spLocks noGrp="1"/>
          </p:cNvSpPr>
          <p:nvPr/>
        </p:nvSpPr>
        <p:spPr>
          <a:xfrm>
            <a:off x="7753350" y="44386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111318"/>
                </a:solidFill>
              </a:defRPr>
            </a:pPr>
            <a:r>
              <a:rPr sz="2400" b="1">
                <a:solidFill>
                  <a:srgbClr val="111318"/>
                </a:solidFill>
              </a:rPr>
              <a:t>0.6262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DF2C0E-2F6B-40E1-88E3-648AEFECBC01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6D737A"/>
                </a:solidFill>
              </a:defRPr>
            </a:pPr>
            <a:r>
              <a:rPr sz="1200" b="0">
                <a:solidFill>
                  <a:srgbClr val="6D737A"/>
                </a:solidFill>
              </a:rPr>
              <a:t>test macro F1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6DB613-BB4D-47A8-AC04-CB25FA7BEDCD}"/>
              </a:ext>
            </a:extLst>
          </p:cNvPr>
          <p:cNvSpPr>
            <a:spLocks noGrp="1"/>
          </p:cNvSpPr>
          <p:nvPr/>
        </p:nvSpPr>
        <p:spPr>
          <a:xfrm>
            <a:off x="7620000" y="1847850"/>
            <a:ext cx="3333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350" b="0">
                <a:solidFill>
                  <a:srgbClr val="252A31"/>
                </a:solidFill>
              </a:defRPr>
            </a:pPr>
            <a:r>
              <a:rPr sz="1350" b="0">
                <a:solidFill>
                  <a:srgbClr val="252A31"/>
                </a:solidFill>
              </a:rPr>
              <a:t>Neutral recall is 0.4581. The largest error pattern is Neutral predicted as Negative (757 rows).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CF5C9C-9B05-456A-B749-8CFBC3AB8EE5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31B1B2-0473-4F7D-80D7-2E2C6673933E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DE5A18-1FF5-40B3-95A6-F7964D9BF2F5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3518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4AF66E0-DDB7-4E4B-8636-72EDCB5151DF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VALIDATION SELECTION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1D5168-FBA7-4763-9549-51DBEF51306E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Improvement Readout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DDC1F2-E53A-43D3-BE72-5CCF6FB7B713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100178-78BF-43E3-AD75-245AB9A56326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952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A larger GRU with lower dropout produces the strongest validation signal without consuming the held-out test split.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="742950" y="2667000"/>
          <a:ext cx="6715125" cy="2990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3C0B0DF-0627-4B79-8A49-A4BBF8651401}"/>
              </a:ext>
            </a:extLst>
          </p:cNvPr>
          <p:cNvSpPr>
            <a:spLocks noGrp="1"/>
          </p:cNvSpPr>
          <p:nvPr/>
        </p:nvSpPr>
        <p:spPr>
          <a:xfrm>
            <a:off x="8001000" y="2781300"/>
            <a:ext cx="2952750" cy="2152650"/>
          </a:xfrm>
          <a:prstGeom prst="rect">
            <a:avLst/>
          </a:prstGeom>
          <a:solidFill>
            <a:srgbClr val="111318"/>
          </a:solidFill>
          <a:ln w="0">
            <a:solidFill>
              <a:srgbClr val="111318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7B4023-280D-4807-A632-D4BBF38079E1}"/>
              </a:ext>
            </a:extLst>
          </p:cNvPr>
          <p:cNvSpPr>
            <a:spLocks noGrp="1"/>
          </p:cNvSpPr>
          <p:nvPr/>
        </p:nvSpPr>
        <p:spPr>
          <a:xfrm>
            <a:off x="8286750" y="312420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+6.9 pts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F32B96-57C6-428F-ADDC-D08112A7BA7B}"/>
              </a:ext>
            </a:extLst>
          </p:cNvPr>
          <p:cNvSpPr>
            <a:spLocks noGrp="1"/>
          </p:cNvSpPr>
          <p:nvPr/>
        </p:nvSpPr>
        <p:spPr>
          <a:xfrm>
            <a:off x="8305800" y="3829050"/>
            <a:ext cx="2133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DCE1DC"/>
                </a:solidFill>
              </a:defRPr>
            </a:pPr>
            <a:r>
              <a:rPr sz="1500" b="0">
                <a:solidFill>
                  <a:srgbClr val="DCE1DC"/>
                </a:solidFill>
              </a:rPr>
              <a:t>validation macro F1 lift vs Phase 7 baseline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D7F50E-557A-4BFF-80A7-2228104F2C6A}"/>
              </a:ext>
            </a:extLst>
          </p:cNvPr>
          <p:cNvSpPr>
            <a:spLocks noGrp="1"/>
          </p:cNvSpPr>
          <p:nvPr/>
        </p:nvSpPr>
        <p:spPr>
          <a:xfrm>
            <a:off x="8305800" y="4457700"/>
            <a:ext cx="2190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125" b="0">
                <a:solidFill>
                  <a:srgbClr val="6BB6A8"/>
                </a:solidFill>
              </a:defRPr>
            </a:pPr>
            <a:r>
              <a:rPr sz="1125" b="0">
                <a:solidFill>
                  <a:srgbClr val="6BB6A8"/>
                </a:solidFill>
              </a:rPr>
              <a:t>Selected candidate:</a:t>
            </a:r>
          </a:p>
          <a:p>
            <a:pPr algn="l">
              <a:defRPr sz="1125" b="0">
                <a:solidFill>
                  <a:srgbClr val="6BB6A8"/>
                </a:solidFill>
              </a:defRPr>
            </a:pPr>
            <a:r>
              <a:rPr sz="1125" b="0">
                <a:solidFill>
                  <a:srgbClr val="6BB6A8"/>
                </a:solidFill>
              </a:rPr>
              <a:t>GRU-96, dropout 0.20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E99D4E-3B57-4E35-9BF9-024C63FD6108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8B986-2904-4046-99AF-A36C2AF16B6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CE7A5A-3FFA-4FFA-8626-A33220EAD4A1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6558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F3D79A1-D78E-4403-9F00-7654EC85245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WHERE THE MODEL BREAKS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33831A-FD13-4B3F-A60F-E3B4A5C2A053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Error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4D606B-AAAB-4D4C-83DC-F251F738ED60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85118-3957-4A32-BB2F-95151C8A5A10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990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The confusion matrix shows strong Negative recall, moderate Positive recall, and a Neutral class that is frequently absorbed into polarized labels.</a:t>
            </a:r>
          </a:p>
        </p:txBody>
      </p:sp>
      <p:graphicFrame>
        <p:nvGraphicFramePr>
          <p:cNvPr id="23" name="Table 22"/>
          <p:cNvGraphicFramePr/>
          <p:nvPr/>
        </p:nvGraphicFramePr>
        <p:xfrm>
          <a:off x="838200" y="2724150"/>
          <a:ext cx="5810252" cy="2400300"/>
        </p:xfrm>
        <a:graphic>
          <a:graphicData uri="http://schemas.openxmlformats.org/drawingml/2006/table">
            <a:tbl>
              <a:tblPr/>
              <a:tblGrid>
                <a:gridCol w="1452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2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25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Actual / Pred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Negative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Neutral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Positive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Negative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2,564</a:t>
                      </a:r>
                    </a:p>
                  </a:txBody>
                  <a:tcPr>
                    <a:solidFill>
                      <a:srgbClr val="BBD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215</a:t>
                      </a:r>
                    </a:p>
                  </a:txBody>
                  <a:tcPr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462</a:t>
                      </a:r>
                    </a:p>
                  </a:txBody>
                  <a:tcPr>
                    <a:solidFill>
                      <a:srgbClr val="F6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Neutral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757</a:t>
                      </a:r>
                    </a:p>
                  </a:txBody>
                  <a:tcPr>
                    <a:solidFill>
                      <a:srgbClr val="F2C0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1,209</a:t>
                      </a:r>
                    </a:p>
                  </a:txBody>
                  <a:tcPr>
                    <a:solidFill>
                      <a:srgbClr val="D6E8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673</a:t>
                      </a:r>
                    </a:p>
                  </a:txBody>
                  <a:tcPr>
                    <a:solidFill>
                      <a:srgbClr val="F4D2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111318"/>
                          </a:solidFill>
                        </a:rPr>
                        <a:t>Positive</a:t>
                      </a:r>
                    </a:p>
                  </a:txBody>
                  <a:tcPr>
                    <a:solidFill>
                      <a:srgbClr val="E4DE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751</a:t>
                      </a:r>
                    </a:p>
                  </a:txBody>
                  <a:tcPr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331</a:t>
                      </a:r>
                    </a:p>
                  </a:txBody>
                  <a:tcPr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318"/>
                          </a:solidFill>
                        </a:rPr>
                        <a:t>1,864</a:t>
                      </a:r>
                    </a:p>
                  </a:txBody>
                  <a:tcPr>
                    <a:solidFill>
                      <a:srgbClr val="C9E0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CF1711C-28AF-4C34-A1D8-5439EFAABAD4}"/>
              </a:ext>
            </a:extLst>
          </p:cNvPr>
          <p:cNvSpPr>
            <a:spLocks noGrp="1"/>
          </p:cNvSpPr>
          <p:nvPr/>
        </p:nvSpPr>
        <p:spPr>
          <a:xfrm>
            <a:off x="7410450" y="2857500"/>
            <a:ext cx="34290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D0E5F-06D3-41B4-8AFA-5FB69438A1A2}"/>
              </a:ext>
            </a:extLst>
          </p:cNvPr>
          <p:cNvSpPr>
            <a:spLocks noGrp="1"/>
          </p:cNvSpPr>
          <p:nvPr/>
        </p:nvSpPr>
        <p:spPr>
          <a:xfrm>
            <a:off x="7410450" y="2857500"/>
            <a:ext cx="3429000" cy="47625"/>
          </a:xfrm>
          <a:prstGeom prst="rect">
            <a:avLst/>
          </a:prstGeom>
          <a:solidFill>
            <a:srgbClr val="D65A4A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FD67C1-D6AE-4257-9351-513D9A81967E}"/>
              </a:ext>
            </a:extLst>
          </p:cNvPr>
          <p:cNvSpPr>
            <a:spLocks noGrp="1"/>
          </p:cNvSpPr>
          <p:nvPr/>
        </p:nvSpPr>
        <p:spPr>
          <a:xfrm>
            <a:off x="7639050" y="3067050"/>
            <a:ext cx="2971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D65A4A"/>
                </a:solidFill>
              </a:defRPr>
            </a:pPr>
            <a:r>
              <a:rPr sz="975" b="1">
                <a:solidFill>
                  <a:srgbClr val="D65A4A"/>
                </a:solidFill>
              </a:rPr>
              <a:t>PRIMARY ISSUE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7E148E-6CCD-486E-ACA3-059E49F19CCE}"/>
              </a:ext>
            </a:extLst>
          </p:cNvPr>
          <p:cNvSpPr>
            <a:spLocks noGrp="1"/>
          </p:cNvSpPr>
          <p:nvPr/>
        </p:nvSpPr>
        <p:spPr>
          <a:xfrm>
            <a:off x="7639050" y="3352800"/>
            <a:ext cx="2971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Neutral ambiguity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8A27BF-A1AE-4244-BB62-58145097FD68}"/>
              </a:ext>
            </a:extLst>
          </p:cNvPr>
          <p:cNvSpPr>
            <a:spLocks noGrp="1"/>
          </p:cNvSpPr>
          <p:nvPr/>
        </p:nvSpPr>
        <p:spPr>
          <a:xfrm>
            <a:off x="7639050" y="3886200"/>
            <a:ext cx="2971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Neutral tweets are short and context-dependent, so the model often assigns them to Negative or Positive.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799155-5A76-4654-AC6B-D02380D33864}"/>
              </a:ext>
            </a:extLst>
          </p:cNvPr>
          <p:cNvSpPr>
            <a:spLocks noGrp="1"/>
          </p:cNvSpPr>
          <p:nvPr/>
        </p:nvSpPr>
        <p:spPr>
          <a:xfrm>
            <a:off x="7410450" y="4610100"/>
            <a:ext cx="34290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BAA5D4-D496-48EC-B231-EE9029E8F77E}"/>
              </a:ext>
            </a:extLst>
          </p:cNvPr>
          <p:cNvSpPr>
            <a:spLocks noGrp="1"/>
          </p:cNvSpPr>
          <p:nvPr/>
        </p:nvSpPr>
        <p:spPr>
          <a:xfrm>
            <a:off x="7410450" y="4610100"/>
            <a:ext cx="3429000" cy="47625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412D40-E746-451B-AB75-0501F9728788}"/>
              </a:ext>
            </a:extLst>
          </p:cNvPr>
          <p:cNvSpPr>
            <a:spLocks noGrp="1"/>
          </p:cNvSpPr>
          <p:nvPr/>
        </p:nvSpPr>
        <p:spPr>
          <a:xfrm>
            <a:off x="7639050" y="4819650"/>
            <a:ext cx="2971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0E7C7B"/>
                </a:solidFill>
              </a:defRPr>
            </a:pPr>
            <a:r>
              <a:rPr sz="975" b="1">
                <a:solidFill>
                  <a:srgbClr val="0E7C7B"/>
                </a:solidFill>
              </a:rPr>
              <a:t>GOVERNANCE NOTE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40974-1FF1-4F15-9070-27C1B8E56374}"/>
              </a:ext>
            </a:extLst>
          </p:cNvPr>
          <p:cNvSpPr>
            <a:spLocks noGrp="1"/>
          </p:cNvSpPr>
          <p:nvPr/>
        </p:nvSpPr>
        <p:spPr>
          <a:xfrm>
            <a:off x="7639050" y="5105400"/>
            <a:ext cx="2971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Do not overclaim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694561-7754-4C18-B432-FBDA8C9B975E}"/>
              </a:ext>
            </a:extLst>
          </p:cNvPr>
          <p:cNvSpPr>
            <a:spLocks noGrp="1"/>
          </p:cNvSpPr>
          <p:nvPr/>
        </p:nvSpPr>
        <p:spPr>
          <a:xfrm>
            <a:off x="7639050" y="5638800"/>
            <a:ext cx="2971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The improved model has validation evidence; it is not an improved test result unless one final test is run.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CA54F2-1C20-4603-B291-AC6436A7A05F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9A3E36-25AE-45B3-AED2-B53517631C55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623D02-CA12-4F6E-B0C5-07DE0956B1F4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13969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5534357-7DF1-4924-B622-830512F43005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050" b="1">
                <a:solidFill>
                  <a:srgbClr val="0E7C7B"/>
                </a:solidFill>
              </a:defRPr>
            </a:pPr>
            <a:r>
              <a:rPr sz="1050" b="1">
                <a:solidFill>
                  <a:srgbClr val="0E7C7B"/>
                </a:solidFill>
              </a:rPr>
              <a:t>READY ARTIFACTS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B3DC25-EEA6-4131-BEA2-29A3B3A8FE1D}"/>
              </a:ext>
            </a:extLst>
          </p:cNvPr>
          <p:cNvSpPr>
            <a:spLocks noGrp="1"/>
          </p:cNvSpPr>
          <p:nvPr/>
        </p:nvSpPr>
        <p:spPr>
          <a:xfrm>
            <a:off x="685800" y="866775"/>
            <a:ext cx="952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2850" b="1">
                <a:solidFill>
                  <a:srgbClr val="111318"/>
                </a:solidFill>
              </a:defRPr>
            </a:pPr>
            <a:r>
              <a:rPr sz="2850" b="1">
                <a:solidFill>
                  <a:srgbClr val="111318"/>
                </a:solidFill>
              </a:rPr>
              <a:t>Submission Package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08D09-A113-4C40-82F5-53825B81DFF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876300" cy="381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BDD718-1F01-41BC-BBE3-88362A5EFBFE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252A31"/>
                </a:solidFill>
              </a:defRPr>
            </a:pPr>
            <a:r>
              <a:rPr sz="1800" b="1">
                <a:solidFill>
                  <a:srgbClr val="252A31"/>
                </a:solidFill>
              </a:rPr>
              <a:t>The project now has a complete audit trail from raw data inspection to final reporting outputs.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AF7AC9-C388-4F29-B1B0-135708C0176B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31432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49FE92-8D05-46E7-BC5B-75C6E4275C58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3143250" cy="47625"/>
          </a:xfrm>
          <a:prstGeom prst="rect">
            <a:avLst/>
          </a:prstGeom>
          <a:solidFill>
            <a:srgbClr val="0E7C7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3EAEC1-8DBE-483B-B81A-7F5CF243E50B}"/>
              </a:ext>
            </a:extLst>
          </p:cNvPr>
          <p:cNvSpPr>
            <a:spLocks noGrp="1"/>
          </p:cNvSpPr>
          <p:nvPr/>
        </p:nvSpPr>
        <p:spPr>
          <a:xfrm>
            <a:off x="914400" y="2990850"/>
            <a:ext cx="268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0E7C7B"/>
                </a:solidFill>
              </a:defRPr>
            </a:pPr>
            <a:r>
              <a:rPr sz="975" b="1">
                <a:solidFill>
                  <a:srgbClr val="0E7C7B"/>
                </a:solidFill>
              </a:rPr>
              <a:t>NOTEBOOK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19C766-4E32-48FB-ADA5-E8E3B2B50DE2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Phases 1-10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464BA3-9A82-4BBF-9A1A-783316AB6E39}"/>
              </a:ext>
            </a:extLst>
          </p:cNvPr>
          <p:cNvSpPr>
            <a:spLocks noGrp="1"/>
          </p:cNvSpPr>
          <p:nvPr/>
        </p:nvSpPr>
        <p:spPr>
          <a:xfrm>
            <a:off x="914400" y="38100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End-to-end workflow with final packaging section and reproducible script call.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2E5FAF-43FA-48D6-81D9-98BD98AA2833}"/>
              </a:ext>
            </a:extLst>
          </p:cNvPr>
          <p:cNvSpPr>
            <a:spLocks noGrp="1"/>
          </p:cNvSpPr>
          <p:nvPr/>
        </p:nvSpPr>
        <p:spPr>
          <a:xfrm>
            <a:off x="4514850" y="2781300"/>
            <a:ext cx="31432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417273-1533-4056-9A24-4226793E9384}"/>
              </a:ext>
            </a:extLst>
          </p:cNvPr>
          <p:cNvSpPr>
            <a:spLocks noGrp="1"/>
          </p:cNvSpPr>
          <p:nvPr/>
        </p:nvSpPr>
        <p:spPr>
          <a:xfrm>
            <a:off x="4514850" y="2781300"/>
            <a:ext cx="3143250" cy="47625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79FC40-45FB-43A2-B564-ECA9A7787442}"/>
              </a:ext>
            </a:extLst>
          </p:cNvPr>
          <p:cNvSpPr>
            <a:spLocks noGrp="1"/>
          </p:cNvSpPr>
          <p:nvPr/>
        </p:nvSpPr>
        <p:spPr>
          <a:xfrm>
            <a:off x="4743450" y="2990850"/>
            <a:ext cx="268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C9972D"/>
                </a:solidFill>
              </a:defRPr>
            </a:pPr>
            <a:r>
              <a:rPr sz="975" b="1">
                <a:solidFill>
                  <a:srgbClr val="C9972D"/>
                </a:solidFill>
              </a:rPr>
              <a:t>REPORT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A76878-EF20-4139-9337-B1D810B2C1BB}"/>
              </a:ext>
            </a:extLst>
          </p:cNvPr>
          <p:cNvSpPr>
            <a:spLocks noGrp="1"/>
          </p:cNvSpPr>
          <p:nvPr/>
        </p:nvSpPr>
        <p:spPr>
          <a:xfrm>
            <a:off x="4743450" y="32766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Final narrative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C632B0-76A3-4ED0-AA98-FF2848D6FB66}"/>
              </a:ext>
            </a:extLst>
          </p:cNvPr>
          <p:cNvSpPr>
            <a:spLocks noGrp="1"/>
          </p:cNvSpPr>
          <p:nvPr/>
        </p:nvSpPr>
        <p:spPr>
          <a:xfrm>
            <a:off x="4743450" y="38100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Executive summary, methodology, results, limitations, and next-step recommendation.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B0BD2B-F4D9-4EEB-AEC7-28AEFD424B21}"/>
              </a:ext>
            </a:extLst>
          </p:cNvPr>
          <p:cNvSpPr>
            <a:spLocks noGrp="1"/>
          </p:cNvSpPr>
          <p:nvPr/>
        </p:nvSpPr>
        <p:spPr>
          <a:xfrm>
            <a:off x="8343900" y="2781300"/>
            <a:ext cx="31432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0F5FFA-1998-4501-AB43-7A649346AFEE}"/>
              </a:ext>
            </a:extLst>
          </p:cNvPr>
          <p:cNvSpPr>
            <a:spLocks noGrp="1"/>
          </p:cNvSpPr>
          <p:nvPr/>
        </p:nvSpPr>
        <p:spPr>
          <a:xfrm>
            <a:off x="8343900" y="2781300"/>
            <a:ext cx="3143250" cy="47625"/>
          </a:xfrm>
          <a:prstGeom prst="rect">
            <a:avLst/>
          </a:prstGeom>
          <a:solidFill>
            <a:srgbClr val="6D8B4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320D41-78C8-4A03-96B9-DDEEAEF3FD5C}"/>
              </a:ext>
            </a:extLst>
          </p:cNvPr>
          <p:cNvSpPr>
            <a:spLocks noGrp="1"/>
          </p:cNvSpPr>
          <p:nvPr/>
        </p:nvSpPr>
        <p:spPr>
          <a:xfrm>
            <a:off x="8572500" y="2990850"/>
            <a:ext cx="268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6D8B4E"/>
                </a:solidFill>
              </a:defRPr>
            </a:pPr>
            <a:r>
              <a:rPr sz="975" b="1">
                <a:solidFill>
                  <a:srgbClr val="6D8B4E"/>
                </a:solidFill>
              </a:rPr>
              <a:t>OUTPUTS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30ECC8-EAD3-418E-8255-60ABDC5D16CC}"/>
              </a:ext>
            </a:extLst>
          </p:cNvPr>
          <p:cNvSpPr>
            <a:spLocks noGrp="1"/>
          </p:cNvSpPr>
          <p:nvPr/>
        </p:nvSpPr>
        <p:spPr>
          <a:xfrm>
            <a:off x="8572500" y="32766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Tables + models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93B2E0-DE9D-4A70-AD17-180351F26971}"/>
              </a:ext>
            </a:extLst>
          </p:cNvPr>
          <p:cNvSpPr>
            <a:spLocks noGrp="1"/>
          </p:cNvSpPr>
          <p:nvPr/>
        </p:nvSpPr>
        <p:spPr>
          <a:xfrm>
            <a:off x="8572500" y="38100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Saved metrics, checkpoints, split artifacts, figures, and final key-metrics CSV.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535CBD-57FD-4A91-A147-6057675F8CCA}"/>
              </a:ext>
            </a:extLst>
          </p:cNvPr>
          <p:cNvSpPr>
            <a:spLocks noGrp="1"/>
          </p:cNvSpPr>
          <p:nvPr/>
        </p:nvSpPr>
        <p:spPr>
          <a:xfrm>
            <a:off x="685800" y="48196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950" b="1">
                <a:solidFill>
                  <a:srgbClr val="111318"/>
                </a:solidFill>
              </a:defRPr>
            </a:pPr>
            <a:r>
              <a:rPr sz="1950" b="1">
                <a:solidFill>
                  <a:srgbClr val="111318"/>
                </a:solidFill>
              </a:rPr>
              <a:t>Evidence boundary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911567-4A26-40FE-A127-2074AFDC03D8}"/>
              </a:ext>
            </a:extLst>
          </p:cNvPr>
          <p:cNvSpPr>
            <a:spLocks noGrp="1"/>
          </p:cNvSpPr>
          <p:nvPr/>
        </p:nvSpPr>
        <p:spPr>
          <a:xfrm>
            <a:off x="2952750" y="4819650"/>
            <a:ext cx="638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350" b="0">
                <a:solidFill>
                  <a:srgbClr val="252A31"/>
                </a:solidFill>
              </a:defRPr>
            </a:pPr>
            <a:r>
              <a:rPr sz="1350" b="0">
                <a:solidFill>
                  <a:srgbClr val="252A31"/>
                </a:solidFill>
              </a:rPr>
              <a:t>- Phase 8: official held-out test baseline</a:t>
            </a:r>
          </a:p>
          <a:p>
            <a:pPr algn="l">
              <a:defRPr sz="1350" b="0">
                <a:solidFill>
                  <a:srgbClr val="252A31"/>
                </a:solidFill>
              </a:defRPr>
            </a:pPr>
            <a:r>
              <a:rPr sz="1350" b="0">
                <a:solidFill>
                  <a:srgbClr val="252A31"/>
                </a:solidFill>
              </a:rPr>
              <a:t>- Phase 9: validation-only model selection</a:t>
            </a:r>
          </a:p>
          <a:p>
            <a:pPr algn="l">
              <a:defRPr sz="1350" b="0">
                <a:solidFill>
                  <a:srgbClr val="252A31"/>
                </a:solidFill>
              </a:defRPr>
            </a:pPr>
            <a:r>
              <a:rPr sz="1350" b="0">
                <a:solidFill>
                  <a:srgbClr val="252A31"/>
                </a:solidFill>
              </a:rPr>
              <a:t>- Phase 10: packaging, no training or new evaluation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E30813-D135-49F7-A4E2-BE94C756D330}"/>
              </a:ext>
            </a:extLst>
          </p:cNvPr>
          <p:cNvSpPr>
            <a:spLocks noGrp="1"/>
          </p:cNvSpPr>
          <p:nvPr/>
        </p:nvSpPr>
        <p:spPr>
          <a:xfrm>
            <a:off x="685800" y="6315075"/>
            <a:ext cx="10820400" cy="9525"/>
          </a:xfrm>
          <a:prstGeom prst="rect">
            <a:avLst/>
          </a:prstGeom>
          <a:solidFill>
            <a:srgbClr val="DDD8CE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D7D64-E465-4AF1-B7AE-BA349EC806F9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RNN Twitter Sentiment Analysis | Phase 10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6B6FD-5E12-4288-B312-D63DFE576961}"/>
              </a:ext>
            </a:extLst>
          </p:cNvPr>
          <p:cNvSpPr>
            <a:spLocks noGrp="1"/>
          </p:cNvSpPr>
          <p:nvPr/>
        </p:nvSpPr>
        <p:spPr>
          <a:xfrm>
            <a:off x="10953750" y="6429375"/>
            <a:ext cx="55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6D737A"/>
                </a:solidFill>
              </a:defRPr>
            </a:pPr>
            <a:r>
              <a:rPr sz="900" b="0">
                <a:solidFill>
                  <a:srgbClr val="6D737A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8188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054B1E7-56B5-47BE-95C3-643EE5F64FCC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6200" cy="4686300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B0DF98-75F4-42AF-9461-52A23C9F8124}"/>
              </a:ext>
            </a:extLst>
          </p:cNvPr>
          <p:cNvSpPr>
            <a:spLocks noGrp="1"/>
          </p:cNvSpPr>
          <p:nvPr/>
        </p:nvSpPr>
        <p:spPr>
          <a:xfrm>
            <a:off x="1066800" y="85725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125" b="1">
                <a:solidFill>
                  <a:srgbClr val="6BB6A8"/>
                </a:solidFill>
              </a:defRPr>
            </a:pPr>
            <a:r>
              <a:rPr sz="1125" b="1">
                <a:solidFill>
                  <a:srgbClr val="6BB6A8"/>
                </a:solidFill>
              </a:rPr>
              <a:t>RECOMMENDATION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9C14AA-16CE-46FB-B697-FBA7A18CF753}"/>
              </a:ext>
            </a:extLst>
          </p:cNvPr>
          <p:cNvSpPr>
            <a:spLocks noGrp="1"/>
          </p:cNvSpPr>
          <p:nvPr/>
        </p:nvSpPr>
        <p:spPr>
          <a:xfrm>
            <a:off x="1066800" y="1543050"/>
            <a:ext cx="7524750" cy="2571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Submit the baseline,</a:t>
            </a: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protect the test split,</a:t>
            </a: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and carry the GRU-96</a:t>
            </a: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candidate forward.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BF3CEF-C49A-4669-9281-6124E2FD8E82}"/>
              </a:ext>
            </a:extLst>
          </p:cNvPr>
          <p:cNvSpPr>
            <a:spLocks noGrp="1"/>
          </p:cNvSpPr>
          <p:nvPr/>
        </p:nvSpPr>
        <p:spPr>
          <a:xfrm>
            <a:off x="1104900" y="4400550"/>
            <a:ext cx="685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0">
                <a:solidFill>
                  <a:srgbClr val="D9DDD8"/>
                </a:solidFill>
              </a:defRPr>
            </a:pPr>
            <a:r>
              <a:rPr sz="1800" b="0">
                <a:solidFill>
                  <a:srgbClr val="D9DDD8"/>
                </a:solidFill>
              </a:rPr>
              <a:t>A final improved-model test should be run exactly once only if the assessment requires it.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878E9E-790F-4C9C-A272-08B3EFFA7018}"/>
              </a:ext>
            </a:extLst>
          </p:cNvPr>
          <p:cNvSpPr>
            <a:spLocks noGrp="1"/>
          </p:cNvSpPr>
          <p:nvPr/>
        </p:nvSpPr>
        <p:spPr>
          <a:xfrm>
            <a:off x="8591550" y="1314450"/>
            <a:ext cx="25717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28E12F-D47F-4F79-8B1C-D99A959B72E7}"/>
              </a:ext>
            </a:extLst>
          </p:cNvPr>
          <p:cNvSpPr>
            <a:spLocks noGrp="1"/>
          </p:cNvSpPr>
          <p:nvPr/>
        </p:nvSpPr>
        <p:spPr>
          <a:xfrm>
            <a:off x="8591550" y="1314450"/>
            <a:ext cx="2571750" cy="47625"/>
          </a:xfrm>
          <a:prstGeom prst="rect">
            <a:avLst/>
          </a:prstGeom>
          <a:solidFill>
            <a:srgbClr val="C9972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ED874E-6612-4B8D-8CEA-92F9470FFDBD}"/>
              </a:ext>
            </a:extLst>
          </p:cNvPr>
          <p:cNvSpPr>
            <a:spLocks noGrp="1"/>
          </p:cNvSpPr>
          <p:nvPr/>
        </p:nvSpPr>
        <p:spPr>
          <a:xfrm>
            <a:off x="8820150" y="1524000"/>
            <a:ext cx="2114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C9972D"/>
                </a:solidFill>
              </a:defRPr>
            </a:pPr>
            <a:r>
              <a:rPr sz="975" b="1">
                <a:solidFill>
                  <a:srgbClr val="C9972D"/>
                </a:solidFill>
              </a:rPr>
              <a:t>IMMEDIATE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C523B6-AED7-449A-AE2A-04ACC8D6B63B}"/>
              </a:ext>
            </a:extLst>
          </p:cNvPr>
          <p:cNvSpPr>
            <a:spLocks noGrp="1"/>
          </p:cNvSpPr>
          <p:nvPr/>
        </p:nvSpPr>
        <p:spPr>
          <a:xfrm>
            <a:off x="8820150" y="1809750"/>
            <a:ext cx="2114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Submit final package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3F829C-41FC-4A5E-B341-32D37032D41B}"/>
              </a:ext>
            </a:extLst>
          </p:cNvPr>
          <p:cNvSpPr>
            <a:spLocks noGrp="1"/>
          </p:cNvSpPr>
          <p:nvPr/>
        </p:nvSpPr>
        <p:spPr>
          <a:xfrm>
            <a:off x="8820150" y="2343150"/>
            <a:ext cx="2114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Notebook, report, metrics table, and executive deck are ready.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9210CC-F3B0-46E6-B78E-70CB982E7786}"/>
              </a:ext>
            </a:extLst>
          </p:cNvPr>
          <p:cNvSpPr>
            <a:spLocks noGrp="1"/>
          </p:cNvSpPr>
          <p:nvPr/>
        </p:nvSpPr>
        <p:spPr>
          <a:xfrm>
            <a:off x="8591550" y="3143250"/>
            <a:ext cx="25717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4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223BD7-5377-47DA-9B14-F24237FBE0BF}"/>
              </a:ext>
            </a:extLst>
          </p:cNvPr>
          <p:cNvSpPr>
            <a:spLocks noGrp="1"/>
          </p:cNvSpPr>
          <p:nvPr/>
        </p:nvSpPr>
        <p:spPr>
          <a:xfrm>
            <a:off x="8591550" y="3143250"/>
            <a:ext cx="2571750" cy="47625"/>
          </a:xfrm>
          <a:prstGeom prst="rect">
            <a:avLst/>
          </a:prstGeom>
          <a:solidFill>
            <a:srgbClr val="6BB6A8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37DA26-768A-42A6-84DA-B89A45BBBA9F}"/>
              </a:ext>
            </a:extLst>
          </p:cNvPr>
          <p:cNvSpPr>
            <a:spLocks noGrp="1"/>
          </p:cNvSpPr>
          <p:nvPr/>
        </p:nvSpPr>
        <p:spPr>
          <a:xfrm>
            <a:off x="8820150" y="3352800"/>
            <a:ext cx="2114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975" b="1">
                <a:solidFill>
                  <a:srgbClr val="6BB6A8"/>
                </a:solidFill>
              </a:defRPr>
            </a:pPr>
            <a:r>
              <a:rPr sz="975" b="1">
                <a:solidFill>
                  <a:srgbClr val="6BB6A8"/>
                </a:solidFill>
              </a:rPr>
              <a:t>OPTIONAL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9B49AC-DBED-49C9-96DE-EBECDC4E07DF}"/>
              </a:ext>
            </a:extLst>
          </p:cNvPr>
          <p:cNvSpPr>
            <a:spLocks noGrp="1"/>
          </p:cNvSpPr>
          <p:nvPr/>
        </p:nvSpPr>
        <p:spPr>
          <a:xfrm>
            <a:off x="8820150" y="3638550"/>
            <a:ext cx="2114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Final candidate test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8315B0-2B34-47B9-A3BD-C7D51D12FB78}"/>
              </a:ext>
            </a:extLst>
          </p:cNvPr>
          <p:cNvSpPr>
            <a:spLocks noGrp="1"/>
          </p:cNvSpPr>
          <p:nvPr/>
        </p:nvSpPr>
        <p:spPr>
          <a:xfrm>
            <a:off x="8820150" y="4171950"/>
            <a:ext cx="2114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defRPr sz="1200" b="0">
                <a:solidFill>
                  <a:srgbClr val="252A31"/>
                </a:solidFill>
              </a:defRPr>
            </a:pPr>
            <a:r>
              <a:rPr sz="1200" b="0">
                <a:solidFill>
                  <a:srgbClr val="252A31"/>
                </a:solidFill>
              </a:rPr>
              <a:t>Evaluate GRU-96 once on the held-out test split if requested.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FF210C-A1C0-4211-8877-91D3D510880C}"/>
              </a:ext>
            </a:extLst>
          </p:cNvPr>
          <p:cNvSpPr>
            <a:spLocks noGrp="1"/>
          </p:cNvSpPr>
          <p:nvPr/>
        </p:nvSpPr>
        <p:spPr>
          <a:xfrm>
            <a:off x="107823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r">
              <a:defRPr sz="900" b="0">
                <a:solidFill>
                  <a:srgbClr val="AEB5AE"/>
                </a:solidFill>
              </a:defRPr>
            </a:pPr>
            <a:r>
              <a:rPr sz="900" b="0">
                <a:solidFill>
                  <a:srgbClr val="AEB5A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89412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682</Words>
  <Application>Microsoft Office PowerPoint</Application>
  <DocSecurity>0</DocSecurity>
  <PresentationFormat>Widescreen</PresentationFormat>
  <Paragraphs>138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Manoj Bhardwaj</cp:lastModifiedBy>
  <cp:revision>1</cp:revision>
  <dcterms:created xsi:type="dcterms:W3CDTF">2026-06-21T06:53:37Z</dcterms:created>
  <dcterms:modified xsi:type="dcterms:W3CDTF">2026-06-21T07:18:59Z</dcterms:modified>
</cp:coreProperties>
</file>