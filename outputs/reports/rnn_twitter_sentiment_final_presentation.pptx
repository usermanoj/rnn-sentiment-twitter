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37f5fd7e5d4c35" /><Relationship Type="http://schemas.openxmlformats.org/officeDocument/2006/relationships/extended-properties" Target="/docProps/app.xml" Id="R552f4b0e7cc2412c" /><Relationship Type="http://schemas.openxmlformats.org/officeDocument/2006/relationships/officeDocument" Target="/ppt/presentation.xml" Id="R8ee485b2b7f244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1c98fe44bb4bd9"/>
  </p:sldMasterIdLst>
  <p:notesMasterIdLst>
    <p:notesMasterId xmlns:r="http://schemas.openxmlformats.org/officeDocument/2006/relationships" r:id="Rdbfbba9afd31420e"/>
  </p:notesMasterIdLst>
  <p:sldIdLst>
    <p:sldId xmlns:r="http://schemas.openxmlformats.org/officeDocument/2006/relationships" id="256" r:id="R83ad7c5c25f342eb"/>
    <p:sldId xmlns:r="http://schemas.openxmlformats.org/officeDocument/2006/relationships" id="257" r:id="R253e97ce72cf47b5"/>
    <p:sldId xmlns:r="http://schemas.openxmlformats.org/officeDocument/2006/relationships" id="258" r:id="R355292b9a32a4d43"/>
    <p:sldId xmlns:r="http://schemas.openxmlformats.org/officeDocument/2006/relationships" id="259" r:id="R817da028fb2e4c08"/>
    <p:sldId xmlns:r="http://schemas.openxmlformats.org/officeDocument/2006/relationships" id="260" r:id="R8555d19e3d384e9e"/>
    <p:sldId xmlns:r="http://schemas.openxmlformats.org/officeDocument/2006/relationships" id="261" r:id="R94549d41b1974742"/>
    <p:sldId xmlns:r="http://schemas.openxmlformats.org/officeDocument/2006/relationships" id="262" r:id="R6b425444df764c2e"/>
    <p:sldId xmlns:r="http://schemas.openxmlformats.org/officeDocument/2006/relationships" id="263" r:id="R909f554dbcaa426a"/>
    <p:sldId xmlns:r="http://schemas.openxmlformats.org/officeDocument/2006/relationships" id="264" r:id="R6fe8c4969c004b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7026e579484047" /><Relationship Type="http://schemas.openxmlformats.org/officeDocument/2006/relationships/slideMaster" Target="/ppt/slideMasters/slideMaster1.xml" Id="Rcc1c98fe44bb4bd9" /><Relationship Type="http://schemas.openxmlformats.org/officeDocument/2006/relationships/notesMaster" Target="/ppt/notesMasters/notesMaster1.xml" Id="Rdbfbba9afd31420e" /><Relationship Type="http://schemas.openxmlformats.org/officeDocument/2006/relationships/presProps" Target="/ppt/presProps.xml" Id="R9c08bc5ccab04a87" /><Relationship Type="http://schemas.openxmlformats.org/officeDocument/2006/relationships/tableStyles" Target="/ppt/tableStyles.xml" Id="R8b992a2490534336" /><Relationship Type="http://schemas.openxmlformats.org/officeDocument/2006/relationships/slide" Target="/ppt/slides/slide1.xml" Id="R83ad7c5c25f342eb" /><Relationship Type="http://schemas.openxmlformats.org/officeDocument/2006/relationships/slide" Target="/ppt/slides/slide2.xml" Id="R253e97ce72cf47b5" /><Relationship Type="http://schemas.openxmlformats.org/officeDocument/2006/relationships/slide" Target="/ppt/slides/slide3.xml" Id="R355292b9a32a4d43" /><Relationship Type="http://schemas.openxmlformats.org/officeDocument/2006/relationships/slide" Target="/ppt/slides/slide4.xml" Id="R817da028fb2e4c08" /><Relationship Type="http://schemas.openxmlformats.org/officeDocument/2006/relationships/slide" Target="/ppt/slides/slide5.xml" Id="R8555d19e3d384e9e" /><Relationship Type="http://schemas.openxmlformats.org/officeDocument/2006/relationships/slide" Target="/ppt/slides/slide6.xml" Id="R94549d41b1974742" /><Relationship Type="http://schemas.openxmlformats.org/officeDocument/2006/relationships/slide" Target="/ppt/slides/slide7.xml" Id="R6b425444df764c2e" /><Relationship Type="http://schemas.openxmlformats.org/officeDocument/2006/relationships/slide" Target="/ppt/slides/slide8.xml" Id="R909f554dbcaa426a" /><Relationship Type="http://schemas.openxmlformats.org/officeDocument/2006/relationships/slide" Target="/ppt/slides/slide9.xml" Id="R6fe8c4969c004b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66e9f1926645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bdd5e5824042bd" /><Relationship Type="http://schemas.openxmlformats.org/officeDocument/2006/relationships/notesMaster" Target="/ppt/notesMasters/notesMaster1.xml" Id="Rb333f725d1334d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ce4ca42126429d" /><Relationship Type="http://schemas.openxmlformats.org/officeDocument/2006/relationships/notesMaster" Target="/ppt/notesMasters/notesMaster1.xml" Id="Redb334095e3744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82c44adce247f2" /><Relationship Type="http://schemas.openxmlformats.org/officeDocument/2006/relationships/notesMaster" Target="/ppt/notesMasters/notesMaster1.xml" Id="R98331d5e153841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52d73ead044f55" /><Relationship Type="http://schemas.openxmlformats.org/officeDocument/2006/relationships/notesMaster" Target="/ppt/notesMasters/notesMaster1.xml" Id="R5ef3c0a5b38a45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bee3049a4642a3" /><Relationship Type="http://schemas.openxmlformats.org/officeDocument/2006/relationships/notesMaster" Target="/ppt/notesMasters/notesMaster1.xml" Id="R721412c4a5fb44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e97bbf004e4536" /><Relationship Type="http://schemas.openxmlformats.org/officeDocument/2006/relationships/notesMaster" Target="/ppt/notesMasters/notesMaster1.xml" Id="R7a18bf4347b342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19523309bf4c84" /><Relationship Type="http://schemas.openxmlformats.org/officeDocument/2006/relationships/notesMaster" Target="/ppt/notesMasters/notesMaster1.xml" Id="Re9bec1ebdd8544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5c451a5f18465b" /><Relationship Type="http://schemas.openxmlformats.org/officeDocument/2006/relationships/notesMaster" Target="/ppt/notesMasters/notesMaster1.xml" Id="Ra6eed9085ca047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7be9d487314394" /><Relationship Type="http://schemas.openxmlformats.org/officeDocument/2006/relationships/notesMaster" Target="/ppt/notesMasters/notesMaster1.xml" Id="R8a71e75455eb42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857039c6843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fb871626024de0" /><Relationship Type="http://schemas.openxmlformats.org/officeDocument/2006/relationships/slideLayout" Target="/ppt/slideLayouts/slideLayout1.xml" Id="R769c63ad96184c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9c63ad96184c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cba1ef86b4fef" /><Relationship Type="http://schemas.openxmlformats.org/officeDocument/2006/relationships/notesSlide" Target="/ppt/notesSlides/notesSlide1.xml" Id="Rd8fe569f5d984b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7acf9caef41c9" /><Relationship Type="http://schemas.openxmlformats.org/officeDocument/2006/relationships/notesSlide" Target="/ppt/notesSlides/notesSlide2.xml" Id="R7d3d6d4cec0f4f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d0b8c9b4d4dc8" /><Relationship Type="http://schemas.openxmlformats.org/officeDocument/2006/relationships/chart" Target="/ppt/slides/charts/chart1.xml" Id="R6381e35f61c54e14" /><Relationship Type="http://schemas.openxmlformats.org/officeDocument/2006/relationships/notesSlide" Target="/ppt/notesSlides/notesSlide3.xml" Id="Re01d28fe019f4a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43c0aa81242ab" /><Relationship Type="http://schemas.openxmlformats.org/officeDocument/2006/relationships/notesSlide" Target="/ppt/notesSlides/notesSlide4.xml" Id="R5d5fb298b74642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e1b75cec8404f" /><Relationship Type="http://schemas.openxmlformats.org/officeDocument/2006/relationships/chart" Target="/ppt/slides/charts/chart2.xml" Id="R7ba91950d5954fb6" /><Relationship Type="http://schemas.openxmlformats.org/officeDocument/2006/relationships/notesSlide" Target="/ppt/notesSlides/notesSlide5.xml" Id="R97b396cf20574b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5d2f48bef40c0" /><Relationship Type="http://schemas.openxmlformats.org/officeDocument/2006/relationships/chart" Target="/ppt/slides/charts/chart3.xml" Id="R98c91be806f24989" /><Relationship Type="http://schemas.openxmlformats.org/officeDocument/2006/relationships/notesSlide" Target="/ppt/notesSlides/notesSlide6.xml" Id="Ra7d4a46f9f1249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ff7cc53a54399" /><Relationship Type="http://schemas.openxmlformats.org/officeDocument/2006/relationships/notesSlide" Target="/ppt/notesSlides/notesSlide7.xml" Id="R0746b015d5a34a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1f3ebe4cc4b12" /><Relationship Type="http://schemas.openxmlformats.org/officeDocument/2006/relationships/notesSlide" Target="/ppt/notesSlides/notesSlide8.xml" Id="R24f3c31d748945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0467665aa4738" /><Relationship Type="http://schemas.openxmlformats.org/officeDocument/2006/relationships/notesSlide" Target="/ppt/notesSlides/notesSlide9.xml" Id="R7fc84afcfd254b36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318"/>
                </a:solidFill>
              </a:rPr>
              <a:t>Class mix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318"/>
              </a:solidFill>
            </a:defRPr>
          </a:pPr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Share</c:v>
          </c:tx>
          <c:spPr>
            <a:solidFill xmlns:a="http://schemas.openxmlformats.org/drawingml/2006/main">
              <a:srgbClr val="0E7C7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Negative</c:v>
              </c:pt>
              <c:pt idx="1">
                <c:v>Positive</c:v>
              </c:pt>
              <c:pt idx="2">
                <c:v>Neutral</c:v>
              </c:pt>
            </c:strLit>
          </c:cat>
          <c:val>
            <c:numLit>
              <c:formatCode>General</c:formatCode>
              <c:ptCount val="3"/>
              <c:pt idx="0">
                <c:v>36.72</c:v>
              </c:pt>
              <c:pt idx="1">
                <c:v>33.38</c:v>
              </c:pt>
              <c:pt idx="2">
                <c:v>29.9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3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D737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2DED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318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8F5"/>
        </a:solidFill>
      </c:spPr>
    </c:plotArea>
    <c:plotVisOnly val="1"/>
  </c:chart>
  <c:spPr>
    <a:solidFill xmlns:a="http://schemas.openxmlformats.org/drawingml/2006/main">
      <a:srgbClr val="F8F8F5"/>
    </a:solidFill>
  </c:spPr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318"/>
                </a:solidFill>
              </a:rPr>
              <a:t>Test F1 by class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318"/>
              </a:solidFill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F1</c:v>
          </c:tx>
          <c:spPr>
            <a:solidFill xmlns:a="http://schemas.openxmlformats.org/drawingml/2006/main">
              <a:srgbClr val="0E7C7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Negative</c:v>
              </c:pt>
              <c:pt idx="1">
                <c:v>Neutral</c:v>
              </c:pt>
              <c:pt idx="2">
                <c:v>Positive</c:v>
              </c:pt>
            </c:strLit>
          </c:cat>
          <c:val>
            <c:numLit>
              <c:formatCode>0.00</c:formatCode>
              <c:ptCount val="3"/>
              <c:pt idx="0">
                <c:v>0.7012</c:v>
              </c:pt>
              <c:pt idx="1">
                <c:v>0.5503</c:v>
              </c:pt>
              <c:pt idx="2">
                <c:v>0.6271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113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31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DED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D737A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8F5"/>
        </a:solidFill>
      </c:spPr>
    </c:plotArea>
    <c:plotVisOnly val="1"/>
  </c:chart>
  <c:spPr>
    <a:solidFill xmlns:a="http://schemas.openxmlformats.org/drawingml/2006/main">
      <a:srgbClr val="F8F8F5"/>
    </a:solidFill>
  </c:spPr>
</c:chartSpace>
</file>

<file path=ppt/slides/charts/chart3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318"/>
                </a:solidFill>
              </a:rPr>
              <a:t>Validation macro F1 by candidate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318"/>
              </a:solidFill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C9972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Baseline</c:v>
              </c:pt>
              <c:pt idx="1">
                <c:v>GRU-96 d0.20</c:v>
              </c:pt>
              <c:pt idx="2">
                <c:v>GRU neutral</c:v>
              </c:pt>
              <c:pt idx="3">
                <c:v>LSTM-64</c:v>
              </c:pt>
            </c:strLit>
          </c:cat>
          <c:val>
            <c:numLit>
              <c:formatCode>0.00</c:formatCode>
              <c:ptCount val="4"/>
              <c:pt idx="0">
                <c:v>0.6185</c:v>
              </c:pt>
              <c:pt idx="1">
                <c:v>0.6874</c:v>
              </c:pt>
              <c:pt idx="2">
                <c:v>0.667</c:v>
              </c:pt>
              <c:pt idx="3">
                <c:v>0.6585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3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31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72"/>
          <c:min val="0.5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DED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D737A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8F5"/>
        </a:solidFill>
      </c:spPr>
    </c:plotArea>
    <c:plotVisOnly val="1"/>
  </c:chart>
  <c:spPr>
    <a:solidFill xmlns:a="http://schemas.openxmlformats.org/drawingml/2006/main">
      <a:srgbClr val="F8F8F5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C8BFFA-5B76-419D-8330-ED00140A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555CC-5A35-435D-8F91-A54429E1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66675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C62E4-F399-443C-BC8F-2F0FEAC5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85800"/>
            <a:ext cx="2724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DABE6-EBF7-407E-8318-DC0285ED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58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B6A8"/>
                </a:solidFill>
              </a:defRPr>
            </a:pPr>
            <a:r>
              <a:rPr sz="1125" b="1">
                <a:solidFill>
                  <a:srgbClr val="6BB6A8"/>
                </a:solidFill>
              </a:rPr>
              <a:t>EXECUTIVE READOUT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6057F-341F-4FB4-91FC-8C87D6AB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6667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Twitter Sentiment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Classifier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1D083-A65B-4AA4-B2F3-CA30BF93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DDD8"/>
                </a:solidFill>
              </a:defRPr>
            </a:pPr>
            <a:r>
              <a:rPr sz="1800" b="0">
                <a:solidFill>
                  <a:srgbClr val="D9DDD8"/>
                </a:solidFill>
              </a:rPr>
              <a:t>Submission-ready RNN baseline with a validation-selected improvement 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D54D7-5147-4179-A148-3191C98C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4A00E-C605-41B3-82F5-16A4F928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E7FBB-BB5A-4F78-B9AF-6C3F17A8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</a:defRPr>
            </a:pPr>
            <a:r>
              <a:rPr sz="2400" b="1">
                <a:solidFill>
                  <a:srgbClr val="111318"/>
                </a:solidFill>
              </a:rPr>
              <a:t>0.6262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43CE2-8936-4CD8-9E58-9FF60633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37A"/>
                </a:solidFill>
              </a:defRPr>
            </a:pPr>
            <a:r>
              <a:rPr sz="1200" b="0">
                <a:solidFill>
                  <a:srgbClr val="6D737A"/>
                </a:solidFill>
              </a:rPr>
              <a:t>held-out test macro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C9EC0-15B0-4AAC-B8EB-D7B477D4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863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F1E85-1DF4-43FA-A197-41380E69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86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0FDDE-FE28-4971-89B7-DF9DFB5A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95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</a:defRPr>
            </a:pPr>
            <a:r>
              <a:rPr sz="2400" b="1">
                <a:solidFill>
                  <a:srgbClr val="111318"/>
                </a:solidFill>
              </a:rPr>
              <a:t>0.6874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5B9A8-B876-4048-98DC-1F695591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3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37A"/>
                </a:solidFill>
              </a:defRPr>
            </a:pPr>
            <a:r>
              <a:rPr sz="1200" b="0">
                <a:solidFill>
                  <a:srgbClr val="6D737A"/>
                </a:solidFill>
              </a:rPr>
              <a:t>best validation macro 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90C71-9991-4229-8600-D5C54339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863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19EE6-71A8-42D8-AE9B-346665A0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86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A3D28-2CBE-42C1-8039-883CF64C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95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</a:defRPr>
            </a:pPr>
            <a:r>
              <a:rPr sz="2400" b="1">
                <a:solidFill>
                  <a:srgbClr val="111318"/>
                </a:solidFill>
              </a:rPr>
              <a:t>+0.0689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DA68C-4B62-4712-8451-6DF173FF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3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37A"/>
                </a:solidFill>
              </a:defRPr>
            </a:pPr>
            <a:r>
              <a:rPr sz="1200" b="0">
                <a:solidFill>
                  <a:srgbClr val="6D737A"/>
                </a:solidFill>
              </a:rPr>
              <a:t>validation macro F1 lift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0B9A3-4232-4B04-932C-C958476C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62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B5AE"/>
                </a:solidFill>
              </a:defRPr>
            </a:pPr>
            <a:r>
              <a:rPr sz="1050" b="0">
                <a:solidFill>
                  <a:srgbClr val="AEB5AE"/>
                </a:solidFill>
              </a:rPr>
              <a:t>Phase 10 | June 2026</a:t>
            </a:r>
          </a:p>
        </p:txBody>
      </p:sp>
    </p:spTree>
    <p:extLst>
      <p:ext uri="{BB962C8B-B14F-4D97-AF65-F5344CB8AC3E}">
        <p14:creationId xmlns:p14="http://schemas.microsoft.com/office/powerpoint/2010/main" val="7968558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41E87D-8035-48D4-9D88-CA41DD46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7B"/>
                </a:solidFill>
              </a:defRPr>
            </a:pPr>
            <a:r>
              <a:rPr sz="1050" b="1">
                <a:solidFill>
                  <a:srgbClr val="0E7C7B"/>
                </a:solidFill>
              </a:rPr>
              <a:t>DECISION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77C19-3C7C-411B-8419-0FDD0ECB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Executive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E89BC-FD10-40C7-B326-82F12B37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44A2F-DCA4-4878-BB69-2793C36C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</a:defRPr>
            </a:pPr>
            <a:r>
              <a:rPr sz="2100" b="1">
                <a:solidFill>
                  <a:srgbClr val="111318"/>
                </a:solidFill>
              </a:rPr>
              <a:t>The project is ready to submit as a clean baseline story. The larger GRU is the strongest validation candidate, but should only be tested once if the rubric requires a final improved-model test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8D915-25F9-4D2F-AFAD-64EDFF8A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238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DC80F-9E26-4E60-B76D-BB87D3F8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BFF65-26A8-4001-8569-99F0E457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72D"/>
                </a:solidFill>
              </a:defRPr>
            </a:pPr>
            <a:r>
              <a:rPr sz="975" b="1">
                <a:solidFill>
                  <a:srgbClr val="C9972D"/>
                </a:solidFill>
              </a:rPr>
              <a:t>SUBMIT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BDC61-FFB1-40D1-A969-D45C4FBA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Official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E5060-230D-4973-82EC-BACE1C90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A31"/>
                </a:solidFill>
              </a:defRPr>
            </a:pPr>
            <a:r>
              <a:rPr sz="1200" b="0">
                <a:solidFill>
                  <a:srgbClr val="252A31"/>
                </a:solidFill>
              </a:rPr>
              <a:t>Use Phase 8 held-out test metrics as the audited baseline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12752-124E-4F02-B9B2-554C2FD6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3238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9CBC5-AD92-42FA-9A59-09EF7DA2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5A9BF-3FC3-46AF-B1F7-7D7FECA6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29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</a:defRPr>
            </a:pPr>
            <a:r>
              <a:rPr sz="975" b="1">
                <a:solidFill>
                  <a:srgbClr val="0E7C7B"/>
                </a:solidFill>
              </a:rPr>
              <a:t>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C061F-774F-42BE-A388-8D7E5473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GRU-96 candidate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318A0-CAE1-4ABC-A2D8-3CEE0094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481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A31"/>
                </a:solidFill>
              </a:defRPr>
            </a:pPr>
            <a:r>
              <a:rPr sz="1200" b="0">
                <a:solidFill>
                  <a:srgbClr val="252A31"/>
                </a:solidFill>
              </a:rPr>
              <a:t>Treat the Phase 9 larger GRU as the selected validation model.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BC8F1-98BB-4C26-8122-3F30D546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238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A4233-86B4-416F-8A5A-537C6E5F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FD02A-9E7C-4CA5-A49F-DBC74524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A4A"/>
                </a:solidFill>
              </a:defRPr>
            </a:pPr>
            <a:r>
              <a:rPr sz="975" b="1">
                <a:solidFill>
                  <a:srgbClr val="D65A4A"/>
                </a:solidFill>
              </a:rPr>
              <a:t>GOVERN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658F4-02CC-444B-8EBF-C5B5D21A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Preserve test integrity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E8708-1DE0-4FAA-8A9A-D6190F67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481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A31"/>
                </a:solidFill>
              </a:defRPr>
            </a:pPr>
            <a:r>
              <a:rPr sz="1200" b="0">
                <a:solidFill>
                  <a:srgbClr val="252A31"/>
                </a:solidFill>
              </a:rPr>
              <a:t>Run one final test only if required; avoid iterative test-set tuning.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74FA2-6DD4-4FC3-A464-F36284D0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5AF9E2-B34E-47EE-A3E2-47E3EBEC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37A"/>
                </a:solidFill>
              </a:defRPr>
            </a:pPr>
            <a:r>
              <a:rPr sz="900" b="0">
                <a:solidFill>
                  <a:srgbClr val="6D737A"/>
                </a:solidFill>
              </a:rPr>
              <a:t>RNN Twitter Sentiment Analysis | Phase 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7FCDA-9EBC-43DE-A5FA-04A2DF7F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37A"/>
                </a:solidFill>
              </a:defRPr>
            </a:pPr>
            <a:r>
              <a:rPr sz="900" b="0">
                <a:solidFill>
                  <a:srgbClr val="6D73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5331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F2B55D-11D3-4499-94E0-3517176E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7B"/>
                </a:solidFill>
              </a:defRPr>
            </a:pPr>
            <a:r>
              <a:rPr sz="1050" b="1">
                <a:solidFill>
                  <a:srgbClr val="0E7C7B"/>
                </a:solidFill>
              </a:rPr>
              <a:t>EVIDENCE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AF3E3-4A21-4C0F-80D9-514C143D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Data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0103E-4C79-452C-9988-967A7520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14CCE-0F62-4907-BC0D-7DEEBB8D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A31"/>
                </a:solidFill>
              </a:defRPr>
            </a:pPr>
            <a:r>
              <a:rPr sz="1800" b="1">
                <a:solidFill>
                  <a:srgbClr val="252A31"/>
                </a:solidFill>
              </a:rPr>
              <a:t>The cleaned corpus is large, class balance is workable, and split governance is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8B3BF-7C91-48DB-815E-5FB86B97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9F2C7-0A0A-4B03-8ABF-3AFC5C04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41275-F8AC-4EFA-BCED-0401F03C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</a:defRPr>
            </a:pPr>
            <a:r>
              <a:rPr sz="2400" b="1">
                <a:solidFill>
                  <a:srgbClr val="111318"/>
                </a:solidFill>
              </a:rPr>
              <a:t>58,841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C14A6-19F2-4044-B405-1DE8AF40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37A"/>
                </a:solidFill>
              </a:defRPr>
            </a:pPr>
            <a:r>
              <a:rPr sz="1200" b="0">
                <a:solidFill>
                  <a:srgbClr val="6D737A"/>
                </a:solidFill>
              </a:rPr>
              <a:t>clean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609AE-B18D-4133-AC36-91599F63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289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1CFEE-27C8-4351-B867-3BBCE146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289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4629B-1CEF-4DD7-BEF7-6BE33CE8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384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</a:defRPr>
            </a:pPr>
            <a:r>
              <a:rPr sz="2400" b="1">
                <a:solidFill>
                  <a:srgbClr val="111318"/>
                </a:solidFill>
              </a:rPr>
              <a:t>17,924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42B6A-8E74-41E6-9C92-048CF1C3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766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37A"/>
                </a:solidFill>
              </a:defRPr>
            </a:pPr>
            <a:r>
              <a:rPr sz="1200" b="0">
                <a:solidFill>
                  <a:srgbClr val="6D737A"/>
                </a:solidFill>
              </a:rPr>
              <a:t>final vocabulary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80C6A-73D5-4561-B649-B470EF00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289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0D913-576B-45F9-84A8-300096BA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289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48EB0-CC39-48E1-8470-E4B5D27B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384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</a:defRPr>
            </a:pPr>
            <a:r>
              <a:rPr sz="2400" b="1">
                <a:solidFill>
                  <a:srgbClr val="111318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DADCD-123B-46A6-A6DD-08CD9A9A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37A"/>
                </a:solidFill>
              </a:defRPr>
            </a:pPr>
            <a:r>
              <a:rPr sz="1200" b="0">
                <a:solidFill>
                  <a:srgbClr val="6D737A"/>
                </a:solidFill>
              </a:rPr>
              <a:t>sentiment classes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8572500" y="1866900"/>
          <a:ext xmlns:a="http://schemas.openxmlformats.org/drawingml/2006/main" cx="2857500" cy="2933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81e35f61c54e14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073B0-0A1F-4A64-BBC8-CDE98A6C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739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92F6A-EC9A-49A6-B5D6-786DE585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Split design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5BA6B-FB03-4E01-8557-4BA0E7EA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29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C7B"/>
                </a:solidFill>
              </a:defRPr>
            </a:pPr>
            <a:r>
              <a:rPr sz="1650" b="1">
                <a:solidFill>
                  <a:srgbClr val="0E7C7B"/>
                </a:solidFill>
              </a:rPr>
              <a:t>41,189 train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49474-2E7F-48D7-B6FF-A3601255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972D"/>
                </a:solidFill>
              </a:defRPr>
            </a:pPr>
            <a:r>
              <a:rPr sz="1650" b="1">
                <a:solidFill>
                  <a:srgbClr val="C9972D"/>
                </a:solidFill>
              </a:rPr>
              <a:t>8,826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4A1D8-1C0C-4D28-86D8-6181C91C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29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5A4A"/>
                </a:solidFill>
              </a:defRPr>
            </a:pPr>
            <a:r>
              <a:rPr sz="1650" b="1">
                <a:solidFill>
                  <a:srgbClr val="D65A4A"/>
                </a:solidFill>
              </a:rPr>
              <a:t>8,826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C221D-9F19-40BF-9683-026B7352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05400"/>
            <a:ext cx="613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A31"/>
                </a:solidFill>
              </a:defRPr>
            </a:pPr>
            <a:r>
              <a:rPr sz="1275" b="0">
                <a:solidFill>
                  <a:srgbClr val="252A31"/>
                </a:solidFill>
              </a:rPr>
              <a:t>Group-aware train/validation/test partitions prevent accidental leakage and keep the held-out split reserved for final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4E01F-39C7-47E9-98C5-B568468D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5E1256-CDCA-4CA0-B833-FC9138DE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37A"/>
                </a:solidFill>
              </a:defRPr>
            </a:pPr>
            <a:r>
              <a:rPr sz="900" b="0">
                <a:solidFill>
                  <a:srgbClr val="6D737A"/>
                </a:solidFill>
              </a:rPr>
              <a:t>RNN Twitter Sentiment Analysis | Phase 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2C5B18-90D2-43EF-82E0-19FD1277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37A"/>
                </a:solidFill>
              </a:defRPr>
            </a:pPr>
            <a:r>
              <a:rPr sz="900" b="0">
                <a:solidFill>
                  <a:srgbClr val="6D73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19783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9505D0-B32D-4367-A98C-5F28A9B7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7B"/>
                </a:solidFill>
              </a:defRPr>
            </a:pPr>
            <a:r>
              <a:rPr sz="1050" b="1">
                <a:solidFill>
                  <a:srgbClr val="0E7C7B"/>
                </a:solidFill>
              </a:rPr>
              <a:t>METHOD DISCIPLINE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4C6C2-C86B-4DB3-B535-07F1157D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Controls Built Into The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6C5CD-D264-445B-BBF6-8C1C6D4D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4EC23-5001-449D-8DF5-6732CE40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A31"/>
                </a:solidFill>
              </a:defRPr>
            </a:pPr>
            <a:r>
              <a:rPr sz="1800" b="1">
                <a:solidFill>
                  <a:srgbClr val="252A31"/>
                </a:solidFill>
              </a:rPr>
              <a:t>The implementation is defensible because every phase leaves an artifact trail, and model selection is isolated from held-out test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4EE01-6C82-497E-8F57-CAF66709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266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79645-08BD-4524-8B90-9EC16220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972D"/>
                </a:solidFill>
              </a:defRPr>
            </a:pPr>
            <a:r>
              <a:rPr sz="1800" b="1">
                <a:solidFill>
                  <a:srgbClr val="C9972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4A79C-78DD-449B-A57F-84C605D5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</a:defRPr>
            </a:pPr>
            <a:r>
              <a:rPr sz="1950" b="1">
                <a:solidFill>
                  <a:srgbClr val="111318"/>
                </a:solidFill>
              </a:rPr>
              <a:t>Clean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B1D37-A1C7-40B4-9228-D8A84385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A31"/>
                </a:solidFill>
              </a:defRPr>
            </a:pPr>
            <a:r>
              <a:rPr sz="1200" b="0">
                <a:solidFill>
                  <a:srgbClr val="252A31"/>
                </a:solidFill>
              </a:rPr>
              <a:t>Remove unusable text; preserve audits for missing, duplicate, and conflicting 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9E7B8-0302-4BA3-B6C8-AF6389DC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433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6B193-C9D2-4BC7-96EF-51A5DF49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90850"/>
            <a:ext cx="2266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DD1F2-76D2-428C-B6E2-0116A982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004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C7B"/>
                </a:solidFill>
              </a:defRPr>
            </a:pPr>
            <a:r>
              <a:rPr sz="1800" b="1">
                <a:solidFill>
                  <a:srgbClr val="0E7C7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A1EE3-4004-4D7F-8E41-9B6359BA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</a:defRPr>
            </a:pPr>
            <a:r>
              <a:rPr sz="1950" b="1">
                <a:solidFill>
                  <a:srgbClr val="111318"/>
                </a:solidFill>
              </a:rPr>
              <a:t>Encode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9AE5E-9FF0-4068-813A-1F515E04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148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A31"/>
                </a:solidFill>
              </a:defRPr>
            </a:pPr>
            <a:r>
              <a:rPr sz="1200" b="0">
                <a:solidFill>
                  <a:srgbClr val="252A31"/>
                </a:solidFill>
              </a:rPr>
              <a:t>Tokenize model text, cap sequence length, and save vocabulary/config artifacts.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7A021-A3D1-48EF-B089-643FD959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433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34AD6-E2F9-4990-A9FD-B7BCE764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90850"/>
            <a:ext cx="2266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9E640-C98F-4E98-9023-E560E0F4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8B4E"/>
                </a:solidFill>
              </a:defRPr>
            </a:pPr>
            <a:r>
              <a:rPr sz="1800" b="1">
                <a:solidFill>
                  <a:srgbClr val="6D8B4E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9ACCB-7C7C-4777-A5BC-D9B30158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57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</a:defRPr>
            </a:pPr>
            <a:r>
              <a:rPr sz="1950" b="1">
                <a:solidFill>
                  <a:srgbClr val="111318"/>
                </a:solidFill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75502-543D-444B-9395-03590658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A31"/>
                </a:solidFill>
              </a:defRPr>
            </a:pPr>
            <a:r>
              <a:rPr sz="1200" b="0">
                <a:solidFill>
                  <a:srgbClr val="252A31"/>
                </a:solidFill>
              </a:rPr>
              <a:t>Select checkpoints on validation macro F1 with class-weighted loss.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B12D4-3EA3-46D0-AB4A-716D37AE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433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7C24B-5E2A-4DB2-AD51-0C7F67AF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90850"/>
            <a:ext cx="2266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BB798-9838-4AA4-B2AF-141547C9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004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5A4A"/>
                </a:solidFill>
              </a:defRPr>
            </a:pPr>
            <a:r>
              <a:rPr sz="1800" b="1">
                <a:solidFill>
                  <a:srgbClr val="D65A4A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030F7-8E9F-403C-9731-A7E619F4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</a:defRPr>
            </a:pPr>
            <a:r>
              <a:rPr sz="1950" b="1">
                <a:solidFill>
                  <a:srgbClr val="111318"/>
                </a:solidFill>
              </a:rPr>
              <a:t>Test once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5F6F4-74F4-4711-8F1C-C7A9E257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148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A31"/>
                </a:solidFill>
              </a:defRPr>
            </a:pPr>
            <a:r>
              <a:rPr sz="1200" b="0">
                <a:solidFill>
                  <a:srgbClr val="252A31"/>
                </a:solidFill>
              </a:rPr>
              <a:t>Report the saved baseline checkpoint on the held-out split without retuning.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0D8C8A-3B34-4582-A96D-5EAEC4C6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BA1505-856F-4369-BE20-4CB238EC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37A"/>
                </a:solidFill>
              </a:defRPr>
            </a:pPr>
            <a:r>
              <a:rPr sz="900" b="0">
                <a:solidFill>
                  <a:srgbClr val="6D737A"/>
                </a:solidFill>
              </a:rPr>
              <a:t>RNN Twitter Sentiment Analysis | Phase 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964E22-D8A6-44A2-8B0C-ACD38D9D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37A"/>
                </a:solidFill>
              </a:defRPr>
            </a:pPr>
            <a:r>
              <a:rPr sz="900" b="0">
                <a:solidFill>
                  <a:srgbClr val="6D73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9272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559739-90C3-4EB2-A69F-D50FB014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7B"/>
                </a:solidFill>
              </a:defRPr>
            </a:pPr>
            <a:r>
              <a:rPr sz="1050" b="1">
                <a:solidFill>
                  <a:srgbClr val="0E7C7B"/>
                </a:solidFill>
              </a:rPr>
              <a:t>HELD-OUT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0D65C-F03D-46A6-AFCA-BC8D7058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Baseline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1BBAE-2D15-48A2-8B05-870AEF5D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69536-9E8C-4466-B022-A9E0589E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A31"/>
                </a:solidFill>
              </a:defRPr>
            </a:pPr>
            <a:r>
              <a:rPr sz="1800" b="1">
                <a:solidFill>
                  <a:srgbClr val="252A31"/>
                </a:solidFill>
              </a:rPr>
              <a:t>The Phase 7 GRU baseline is credible overall, but Neutral remains the limiting class.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62000" y="2609850"/>
          <a:ext xmlns:a="http://schemas.openxmlformats.org/drawingml/2006/main" cx="6191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a91950d5954fb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2220E-A22E-483E-827F-166AAC42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956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67C51-3EC1-4F64-8AAD-4312285D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95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FEB50-7A35-4F84-98C2-68063734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</a:defRPr>
            </a:pPr>
            <a:r>
              <a:rPr sz="2400" b="1">
                <a:solidFill>
                  <a:srgbClr val="111318"/>
                </a:solidFill>
              </a:rPr>
              <a:t>0.6387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4D179-A2F2-423F-9E47-F3DECE36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37A"/>
                </a:solidFill>
              </a:defRPr>
            </a:pPr>
            <a:r>
              <a:rPr sz="1200" b="0">
                <a:solidFill>
                  <a:srgbClr val="6D737A"/>
                </a:solidFill>
              </a:rPr>
              <a:t>test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5DAAD-BF0D-4FB5-81E8-BD47156C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E23EF-149F-4B67-A970-10210956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0594D-541F-42C1-8E19-EE2BD833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386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</a:defRPr>
            </a:pPr>
            <a:r>
              <a:rPr sz="2400" b="1">
                <a:solidFill>
                  <a:srgbClr val="111318"/>
                </a:solidFill>
              </a:rPr>
              <a:t>0.6262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F2C0E-2F6B-40E1-88E3-648AEFE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768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37A"/>
                </a:solidFill>
              </a:defRPr>
            </a:pPr>
            <a:r>
              <a:rPr sz="1200" b="0">
                <a:solidFill>
                  <a:srgbClr val="6D737A"/>
                </a:solidFill>
              </a:rPr>
              <a:t>test macro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DB613-BB4D-47A8-AC04-CB25FA7B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478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A31"/>
                </a:solidFill>
              </a:defRPr>
            </a:pPr>
            <a:r>
              <a:rPr sz="1350" b="0">
                <a:solidFill>
                  <a:srgbClr val="252A31"/>
                </a:solidFill>
              </a:rPr>
              <a:t>Neutral recall is 0.4581. The largest error pattern is Neutral predicted as Negative (757 rows).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F5C9C-9B05-456A-B749-8CFBC3AB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1B1B2-0473-4F7D-80D7-2E2C6673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37A"/>
                </a:solidFill>
              </a:defRPr>
            </a:pPr>
            <a:r>
              <a:rPr sz="900" b="0">
                <a:solidFill>
                  <a:srgbClr val="6D737A"/>
                </a:solidFill>
              </a:rPr>
              <a:t>RNN Twitter Sentiment Analysis | Phase 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E5A18-1FF5-40B3-95A6-F7964D9B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37A"/>
                </a:solidFill>
              </a:defRPr>
            </a:pPr>
            <a:r>
              <a:rPr sz="900" b="0">
                <a:solidFill>
                  <a:srgbClr val="6D73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35186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AF66E0-DDB7-4E4B-8636-72EDCB51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7B"/>
                </a:solidFill>
              </a:defRPr>
            </a:pPr>
            <a:r>
              <a:rPr sz="1050" b="1">
                <a:solidFill>
                  <a:srgbClr val="0E7C7B"/>
                </a:solidFill>
              </a:rPr>
              <a:t>VALIDATION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D5168-FBA7-4763-9549-51DBEF51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Improvement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DC1F2-E53A-43D3-BE72-5CCF6FB7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00178-78BF-43E3-AD75-245AB9A5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A31"/>
                </a:solidFill>
              </a:defRPr>
            </a:pPr>
            <a:r>
              <a:rPr sz="1800" b="1">
                <a:solidFill>
                  <a:srgbClr val="252A31"/>
                </a:solidFill>
              </a:rPr>
              <a:t>A larger GRU with lower dropout produces the strongest validation signal without consuming the held-out test split.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42950" y="2667000"/>
          <a:ext xmlns:a="http://schemas.openxmlformats.org/drawingml/2006/main" cx="6715125" cy="2990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c91be806f2498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0B0DF-0627-4B79-8A49-A4BBF865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2952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B4023-280D-4807-A632-D4BBF380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+6.9 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32B96-57C6-428F-ADDC-D08112A7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290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1DC"/>
                </a:solidFill>
              </a:defRPr>
            </a:pPr>
            <a:r>
              <a:rPr sz="1500" b="0">
                <a:solidFill>
                  <a:srgbClr val="DCE1DC"/>
                </a:solidFill>
              </a:rPr>
              <a:t>validation macro F1 lift vs Phase 7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7F50E-557A-4BFF-80A7-2228104F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B6A8"/>
                </a:solidFill>
              </a:defRPr>
            </a:pPr>
            <a:r>
              <a:rPr sz="1125" b="0">
                <a:solidFill>
                  <a:srgbClr val="6BB6A8"/>
                </a:solidFill>
              </a:rPr>
              <a:t>Selected candidate:</a:t>
            </a:r>
          </a:p>
          <a:p xmlns:a="http://schemas.openxmlformats.org/drawingml/2006/main">
            <a:pPr algn="l">
              <a:defRPr sz="1125" b="0">
                <a:solidFill>
                  <a:srgbClr val="6BB6A8"/>
                </a:solidFill>
              </a:defRPr>
            </a:pPr>
            <a:r>
              <a:rPr sz="1125" b="0">
                <a:solidFill>
                  <a:srgbClr val="6BB6A8"/>
                </a:solidFill>
              </a:rPr>
              <a:t>GRU-96, dropout 0.20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99D4E-3B57-4E35-9BF9-024C63FD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8B986-2904-4046-99AF-A36C2AF1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37A"/>
                </a:solidFill>
              </a:defRPr>
            </a:pPr>
            <a:r>
              <a:rPr sz="900" b="0">
                <a:solidFill>
                  <a:srgbClr val="6D737A"/>
                </a:solidFill>
              </a:rPr>
              <a:t>RNN Twitter Sentiment Analysis | Phase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E7A5A-3FFA-4FFA-8626-A33220EA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37A"/>
                </a:solidFill>
              </a:defRPr>
            </a:pPr>
            <a:r>
              <a:rPr sz="900" b="0">
                <a:solidFill>
                  <a:srgbClr val="6D73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55884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3D79A1-D78E-4403-9F00-7654EC85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7B"/>
                </a:solidFill>
              </a:defRPr>
            </a:pPr>
            <a:r>
              <a:rPr sz="1050" b="1">
                <a:solidFill>
                  <a:srgbClr val="0E7C7B"/>
                </a:solidFill>
              </a:rPr>
              <a:t>WHERE THE MODEL BREAKS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3831A-FD13-4B3F-A60F-E3B4A5C2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Error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D606B-AAAB-4D4C-83DC-F251F738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85118-3957-4A32-BB2F-95151C8A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A31"/>
                </a:solidFill>
              </a:defRPr>
            </a:pPr>
            <a:r>
              <a:rPr sz="1800" b="1">
                <a:solidFill>
                  <a:srgbClr val="252A31"/>
                </a:solidFill>
              </a:rPr>
              <a:t>The confusion matrix shows strong Negative recall, moderate Positive recall, and a Neutral class that is frequently absorbed into polarized labels.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838200" y="2724150"/>
          <a:ext xmlns:a="http://schemas.openxmlformats.org/drawingml/2006/main" cx="581025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52563"/>
                <a:gridCol w="1452563"/>
                <a:gridCol w="1452563"/>
                <a:gridCol w="1452563"/>
              </a:tblGrid>
              <a:tr h="60007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11318"/>
                          </a:solidFill>
                        </a:rPr>
                        <a:t>Actual / Pred</a:t>
                      </a:r>
                    </a:p>
                  </a:txBody>
                  <a:tcPr marL="91440" marR="91440" marT="45720" marB="45720">
                    <a:solidFill>
                      <a:srgbClr val="E4DE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11318"/>
                          </a:solidFill>
                        </a:rPr>
                        <a:t>Negative</a:t>
                      </a:r>
                    </a:p>
                  </a:txBody>
                  <a:tcPr marL="91440" marR="91440" marT="45720" marB="45720">
                    <a:solidFill>
                      <a:srgbClr val="E4DE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11318"/>
                          </a:solidFill>
                        </a:rPr>
                        <a:t>Neutral</a:t>
                      </a:r>
                    </a:p>
                  </a:txBody>
                  <a:tcPr marL="91440" marR="91440" marT="45720" marB="45720">
                    <a:solidFill>
                      <a:srgbClr val="E4DE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11318"/>
                          </a:solidFill>
                        </a:rPr>
                        <a:t>Positive</a:t>
                      </a:r>
                    </a:p>
                  </a:txBody>
                  <a:tcPr marL="91440" marR="91440" marT="45720" marB="45720">
                    <a:solidFill>
                      <a:srgbClr val="E4DED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11318"/>
                          </a:solidFill>
                        </a:rPr>
                        <a:t>Negative</a:t>
                      </a:r>
                    </a:p>
                  </a:txBody>
                  <a:tcPr marL="91440" marR="91440" marT="45720" marB="45720">
                    <a:solidFill>
                      <a:srgbClr val="E4DE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318"/>
                          </a:solidFill>
                        </a:rPr>
                        <a:t>2,564</a:t>
                      </a:r>
                    </a:p>
                  </a:txBody>
                  <a:tcPr marL="91440" marR="91440" marT="45720" marB="45720">
                    <a:solidFill>
                      <a:srgbClr val="BBD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318"/>
                          </a:solidFill>
                        </a:rPr>
                        <a:t>215</a:t>
                      </a:r>
                    </a:p>
                  </a:txBody>
                  <a:tcPr marL="91440" marR="91440" marT="45720" marB="45720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318"/>
                          </a:solidFill>
                        </a:rPr>
                        <a:t>462</a:t>
                      </a:r>
                    </a:p>
                  </a:txBody>
                  <a:tcPr marL="91440" marR="91440" marT="45720" marB="45720">
                    <a:solidFill>
                      <a:srgbClr val="F6F5F1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11318"/>
                          </a:solidFill>
                        </a:rPr>
                        <a:t>Neutral</a:t>
                      </a:r>
                    </a:p>
                  </a:txBody>
                  <a:tcPr marL="91440" marR="91440" marT="45720" marB="45720">
                    <a:solidFill>
                      <a:srgbClr val="E4DE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318"/>
                          </a:solidFill>
                        </a:rPr>
                        <a:t>757</a:t>
                      </a:r>
                    </a:p>
                  </a:txBody>
                  <a:tcPr marL="91440" marR="91440" marT="45720" marB="45720">
                    <a:solidFill>
                      <a:srgbClr val="F2C0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318"/>
                          </a:solidFill>
                        </a:rPr>
                        <a:t>1,209</a:t>
                      </a:r>
                    </a:p>
                  </a:txBody>
                  <a:tcPr marL="91440" marR="91440" marT="45720" marB="45720">
                    <a:solidFill>
                      <a:srgbClr val="D6E8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318"/>
                          </a:solidFill>
                        </a:rPr>
                        <a:t>673</a:t>
                      </a:r>
                    </a:p>
                  </a:txBody>
                  <a:tcPr marL="91440" marR="91440" marT="45720" marB="45720">
                    <a:solidFill>
                      <a:srgbClr val="F4D2A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11318"/>
                          </a:solidFill>
                        </a:rPr>
                        <a:t>Positive</a:t>
                      </a:r>
                    </a:p>
                  </a:txBody>
                  <a:tcPr marL="91440" marR="91440" marT="45720" marB="45720">
                    <a:solidFill>
                      <a:srgbClr val="E4DE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318"/>
                          </a:solidFill>
                        </a:rPr>
                        <a:t>751</a:t>
                      </a:r>
                    </a:p>
                  </a:txBody>
                  <a:tcPr marL="91440" marR="91440" marT="45720" marB="45720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318"/>
                          </a:solidFill>
                        </a:rPr>
                        <a:t>331</a:t>
                      </a:r>
                    </a:p>
                  </a:txBody>
                  <a:tcPr marL="91440" marR="91440" marT="45720" marB="45720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318"/>
                          </a:solidFill>
                        </a:rPr>
                        <a:t>1,864</a:t>
                      </a:r>
                    </a:p>
                  </a:txBody>
                  <a:tcPr marL="91440" marR="91440" marT="45720" marB="45720">
                    <a:solidFill>
                      <a:srgbClr val="C9E0C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1711C-28AF-4C34-A1D8-5439EFAA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7500"/>
            <a:ext cx="3429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D0E5F-06D3-41B4-8AFA-5FB69438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750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D67C1-D6AE-4257-9351-513D9A81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67050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A4A"/>
                </a:solidFill>
              </a:defRPr>
            </a:pPr>
            <a:r>
              <a:rPr sz="975" b="1">
                <a:solidFill>
                  <a:srgbClr val="D65A4A"/>
                </a:solidFill>
              </a:rPr>
              <a:t>PRIMARY 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E148E-6CCD-486E-ACA3-059E49F1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528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Neutral ambiguity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A27BF-A1AE-4244-BB62-58145097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862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A31"/>
                </a:solidFill>
              </a:defRPr>
            </a:pPr>
            <a:r>
              <a:rPr sz="1200" b="0">
                <a:solidFill>
                  <a:srgbClr val="252A31"/>
                </a:solidFill>
              </a:rPr>
              <a:t>Neutral tweets are short and context-dependent, so the model often assigns them to Negative or Positive.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99155-5A76-4654-AC6B-D02380D3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10100"/>
            <a:ext cx="3429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AA5D4-D496-48EC-B231-EE9029E8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1010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12D40-E746-451B-AB75-0501F972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19650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</a:defRPr>
            </a:pPr>
            <a:r>
              <a:rPr sz="975" b="1">
                <a:solidFill>
                  <a:srgbClr val="0E7C7B"/>
                </a:solidFill>
              </a:rPr>
              <a:t>GOVERNANCE NOTE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40974-1FF1-4F15-9070-27C1B8E5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054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Do not overclaim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94561-7754-4C18-B432-FBDA8C9B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388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A31"/>
                </a:solidFill>
              </a:defRPr>
            </a:pPr>
            <a:r>
              <a:rPr sz="1200" b="0">
                <a:solidFill>
                  <a:srgbClr val="252A31"/>
                </a:solidFill>
              </a:rPr>
              <a:t>The improved model has validation evidence; it is not an improved test result unless one final test is run.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A54F2-1C20-4603-B291-AC6436A7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A3E36-25AE-45B3-AED2-B5351763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37A"/>
                </a:solidFill>
              </a:defRPr>
            </a:pPr>
            <a:r>
              <a:rPr sz="900" b="0">
                <a:solidFill>
                  <a:srgbClr val="6D737A"/>
                </a:solidFill>
              </a:rPr>
              <a:t>RNN Twitter Sentiment Analysis | Phase 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23D02-CA12-4F6E-B0C5-07DE0956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37A"/>
                </a:solidFill>
              </a:defRPr>
            </a:pPr>
            <a:r>
              <a:rPr sz="900" b="0">
                <a:solidFill>
                  <a:srgbClr val="6D73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139697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534357-7DF1-4924-B622-830512F4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7B"/>
                </a:solidFill>
              </a:defRPr>
            </a:pPr>
            <a:r>
              <a:rPr sz="1050" b="1">
                <a:solidFill>
                  <a:srgbClr val="0E7C7B"/>
                </a:solidFill>
              </a:rPr>
              <a:t>READY ARTIFACTS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3DC25-EEA6-4131-BEA2-29A3B3A8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Submission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08D09-A113-4C40-82F5-53825B81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DD718-1F01-41BC-BBE3-88362A5E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A31"/>
                </a:solidFill>
              </a:defRPr>
            </a:pPr>
            <a:r>
              <a:rPr sz="1800" b="1">
                <a:solidFill>
                  <a:srgbClr val="252A31"/>
                </a:solidFill>
              </a:rPr>
              <a:t>The project now has a complete audit trail from raw data inspection to final reporting outputs.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F7AC9-C388-4F29-B1B0-135708C0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9FE92-8D05-46E7-BC5B-75C6E42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EAEC1-8DBE-483B-B81A-7F5CF243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</a:defRPr>
            </a:pPr>
            <a:r>
              <a:rPr sz="975" b="1">
                <a:solidFill>
                  <a:srgbClr val="0E7C7B"/>
                </a:solidFill>
              </a:rPr>
              <a:t>NOTEBOOK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9C766-4E32-48FB-ADA5-E8E3B2B5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Phases 1-10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64BA3-9A82-4BBF-9A1A-783316AB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A31"/>
                </a:solidFill>
              </a:defRPr>
            </a:pPr>
            <a:r>
              <a:rPr sz="1200" b="0">
                <a:solidFill>
                  <a:srgbClr val="252A31"/>
                </a:solidFill>
              </a:rPr>
              <a:t>End-to-end workflow with final packaging section and reproducible script call.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E5FAF-43FA-48D6-81D9-98BD98AA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17273-1533-4056-9A24-4226793E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9FC40-45FB-43A2-B564-ECA9A778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908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72D"/>
                </a:solidFill>
              </a:defRPr>
            </a:pPr>
            <a:r>
              <a:rPr sz="975" b="1">
                <a:solidFill>
                  <a:srgbClr val="C9972D"/>
                </a:solidFill>
              </a:rPr>
              <a:t>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76878-EF20-4139-9337-B1D810B2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766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Final narrative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632B0-76A3-4ED0-AA98-FF2848D6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100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A31"/>
                </a:solidFill>
              </a:defRPr>
            </a:pPr>
            <a:r>
              <a:rPr sz="1200" b="0">
                <a:solidFill>
                  <a:srgbClr val="252A31"/>
                </a:solidFill>
              </a:rPr>
              <a:t>Executive summary, methodology, results, limitations, and next-step recommendation.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0BD2B-F4D9-4EEB-AEC7-28AEFD42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F5FFA-1998-4501-AB43-7A649346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20D41-78C8-4A03-96B9-DDEEAEF3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8B4E"/>
                </a:solidFill>
              </a:defRPr>
            </a:pPr>
            <a:r>
              <a:rPr sz="975" b="1">
                <a:solidFill>
                  <a:srgbClr val="6D8B4E"/>
                </a:solidFill>
              </a:rPr>
              <a:t>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0ECC8-EAD3-418E-8255-60ABDC5D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Tables + models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3B2E0-DE9D-4A70-AD17-180351F2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A31"/>
                </a:solidFill>
              </a:defRPr>
            </a:pPr>
            <a:r>
              <a:rPr sz="1200" b="0">
                <a:solidFill>
                  <a:srgbClr val="252A31"/>
                </a:solidFill>
              </a:rPr>
              <a:t>Saved metrics, checkpoints, split artifacts, figures, and final key-metrics CSV.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35CBD-57FD-4A91-A147-6057675F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</a:defRPr>
            </a:pPr>
            <a:r>
              <a:rPr sz="1950" b="1">
                <a:solidFill>
                  <a:srgbClr val="111318"/>
                </a:solidFill>
              </a:rPr>
              <a:t>Evidence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11567-4A26-40FE-A127-2074AFDC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965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A31"/>
                </a:solidFill>
              </a:defRPr>
            </a:pPr>
            <a:r>
              <a:rPr sz="1350" b="0">
                <a:solidFill>
                  <a:srgbClr val="252A31"/>
                </a:solidFill>
              </a:rPr>
              <a:t>- Phase 8: official held-out test baseline</a:t>
            </a:r>
          </a:p>
          <a:p xmlns:a="http://schemas.openxmlformats.org/drawingml/2006/main">
            <a:pPr algn="l">
              <a:defRPr sz="1350" b="0">
                <a:solidFill>
                  <a:srgbClr val="252A31"/>
                </a:solidFill>
              </a:defRPr>
            </a:pPr>
            <a:r>
              <a:rPr sz="1350" b="0">
                <a:solidFill>
                  <a:srgbClr val="252A31"/>
                </a:solidFill>
              </a:rPr>
              <a:t>- Phase 9: validation-only model selection</a:t>
            </a:r>
          </a:p>
          <a:p xmlns:a="http://schemas.openxmlformats.org/drawingml/2006/main">
            <a:pPr algn="l">
              <a:defRPr sz="1350" b="0">
                <a:solidFill>
                  <a:srgbClr val="252A31"/>
                </a:solidFill>
              </a:defRPr>
            </a:pPr>
            <a:r>
              <a:rPr sz="1350" b="0">
                <a:solidFill>
                  <a:srgbClr val="252A31"/>
                </a:solidFill>
              </a:rPr>
              <a:t>- Phase 10: packaging, no training or new 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30813-D135-49F7-A4E2-BE94C756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0D7D64-E465-4AF1-B7AE-BA349EC8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37A"/>
                </a:solidFill>
              </a:defRPr>
            </a:pPr>
            <a:r>
              <a:rPr sz="900" b="0">
                <a:solidFill>
                  <a:srgbClr val="6D737A"/>
                </a:solidFill>
              </a:rPr>
              <a:t>RNN Twitter Sentiment Analysis | Phase 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46B6FD-5E12-4288-B312-D63DFE57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37A"/>
                </a:solidFill>
              </a:defRPr>
            </a:pPr>
            <a:r>
              <a:rPr sz="900" b="0">
                <a:solidFill>
                  <a:srgbClr val="6D73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81886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54B1E7-56B5-47BE-95C3-643EE5F6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62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0DF98-75F4-42AF-9461-52A23C9F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7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B6A8"/>
                </a:solidFill>
              </a:defRPr>
            </a:pPr>
            <a:r>
              <a:rPr sz="1125" b="1">
                <a:solidFill>
                  <a:srgbClr val="6BB6A8"/>
                </a:solidFill>
              </a:rPr>
              <a:t>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C14AA-16CE-46FB-B697-FBA7A18C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43050"/>
            <a:ext cx="7524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Submit the baseline,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protect the test split,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and carry the GRU-96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candidate forward.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F3CEF-C49A-4669-9281-6124E2FD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DDD8"/>
                </a:solidFill>
              </a:defRPr>
            </a:pPr>
            <a:r>
              <a:rPr sz="1800" b="0">
                <a:solidFill>
                  <a:srgbClr val="D9DDD8"/>
                </a:solidFill>
              </a:rPr>
              <a:t>A final improved-model test should be run exactly once only if the assessment requires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78E9E-790F-4C9C-A272-08B3EFFA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14450"/>
            <a:ext cx="2571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8E12F-D47F-4F79-8B1C-D99A959B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1445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D874E-6612-4B8D-8CEA-92F9470F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240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72D"/>
                </a:solidFill>
              </a:defRPr>
            </a:pPr>
            <a:r>
              <a:rPr sz="975" b="1">
                <a:solidFill>
                  <a:srgbClr val="C9972D"/>
                </a:solidFill>
              </a:rPr>
              <a:t>IMMEDIATE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523B6-AED7-449A-AE2A-04ACC8D6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Submit final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F829C-41FC-4A5E-B341-32D37032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A31"/>
                </a:solidFill>
              </a:defRPr>
            </a:pPr>
            <a:r>
              <a:rPr sz="1200" b="0">
                <a:solidFill>
                  <a:srgbClr val="252A31"/>
                </a:solidFill>
              </a:rPr>
              <a:t>Notebook, report, metrics table, and executive deck are ready.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210CC-F3B0-46E6-B78E-70CB982E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571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23BD7-5377-47DA-9B14-F24237FB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7DA26-768A-42A6-84DA-B89A45BB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528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6A8"/>
                </a:solidFill>
              </a:defRPr>
            </a:pPr>
            <a:r>
              <a:rPr sz="975" b="1">
                <a:solidFill>
                  <a:srgbClr val="6BB6A8"/>
                </a:solidFill>
              </a:rPr>
              <a:t>OPTIONAL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B49AC-DBED-49C9-96DE-EBECDC4E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38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Final candidate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315B0-2B34-47B9-A3BD-C7D51D12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719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2A31"/>
                </a:solidFill>
              </a:defRPr>
            </a:pPr>
            <a:r>
              <a:rPr sz="1200" b="0">
                <a:solidFill>
                  <a:srgbClr val="252A31"/>
                </a:solidFill>
              </a:rPr>
              <a:t>Evaluate GRU-96 once on the held-out test split if requested.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F210C-A1C0-4211-8877-91D3D510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5AE"/>
                </a:solidFill>
              </a:defRPr>
            </a:pPr>
            <a:r>
              <a:rPr sz="900" b="0">
                <a:solidFill>
                  <a:srgbClr val="AEB5AE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8941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2026-06-21T06:53:37.6230000Z</dcterms:created>
  <dcterms:modified xsi:type="dcterms:W3CDTF">2026-06-21T06:53:37.6230000Z</dcterms:modified>
</coreProperties>
</file>